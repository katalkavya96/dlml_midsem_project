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oboto Bold" charset="1" panose="02000000000000000000"/>
      <p:regular r:id="rId16"/>
    </p:embeddedFont>
    <p:embeddedFont>
      <p:font typeface="Roboto" charset="1" panose="02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png" Type="http://schemas.openxmlformats.org/officeDocument/2006/relationships/image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11" Target="../media/image59.png" Type="http://schemas.openxmlformats.org/officeDocument/2006/relationships/image"/><Relationship Id="rId12" Target="../media/image60.png" Type="http://schemas.openxmlformats.org/officeDocument/2006/relationships/image"/><Relationship Id="rId2" Target="../media/image50.png" Type="http://schemas.openxmlformats.org/officeDocument/2006/relationships/image"/><Relationship Id="rId3" Target="../media/image51.png" Type="http://schemas.openxmlformats.org/officeDocument/2006/relationships/image"/><Relationship Id="rId4" Target="../media/image52.png" Type="http://schemas.openxmlformats.org/officeDocument/2006/relationships/image"/><Relationship Id="rId5" Target="../media/image53.png" Type="http://schemas.openxmlformats.org/officeDocument/2006/relationships/image"/><Relationship Id="rId6" Target="../media/image54.png" Type="http://schemas.openxmlformats.org/officeDocument/2006/relationships/image"/><Relationship Id="rId7" Target="../media/image55.png" Type="http://schemas.openxmlformats.org/officeDocument/2006/relationships/image"/><Relationship Id="rId8" Target="../media/image56.pn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png" Type="http://schemas.openxmlformats.org/officeDocument/2006/relationships/image"/><Relationship Id="rId11" Target="../media/image70.png" Type="http://schemas.openxmlformats.org/officeDocument/2006/relationships/image"/><Relationship Id="rId2" Target="../media/image61.png" Type="http://schemas.openxmlformats.org/officeDocument/2006/relationships/image"/><Relationship Id="rId3" Target="../media/image62.png" Type="http://schemas.openxmlformats.org/officeDocument/2006/relationships/image"/><Relationship Id="rId4" Target="../media/image63.png" Type="http://schemas.openxmlformats.org/officeDocument/2006/relationships/image"/><Relationship Id="rId5" Target="../media/image64.png" Type="http://schemas.openxmlformats.org/officeDocument/2006/relationships/image"/><Relationship Id="rId6" Target="../media/image65.png" Type="http://schemas.openxmlformats.org/officeDocument/2006/relationships/image"/><Relationship Id="rId7" Target="../media/image66.png" Type="http://schemas.openxmlformats.org/officeDocument/2006/relationships/image"/><Relationship Id="rId8" Target="../media/image67.png" Type="http://schemas.openxmlformats.org/officeDocument/2006/relationships/image"/><Relationship Id="rId9" Target="../media/image6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1.png" Type="http://schemas.openxmlformats.org/officeDocument/2006/relationships/image"/><Relationship Id="rId3" Target="../media/image72.png" Type="http://schemas.openxmlformats.org/officeDocument/2006/relationships/image"/><Relationship Id="rId4" Target="../media/image73.png" Type="http://schemas.openxmlformats.org/officeDocument/2006/relationships/image"/><Relationship Id="rId5" Target="../media/image74.png" Type="http://schemas.openxmlformats.org/officeDocument/2006/relationships/image"/><Relationship Id="rId6" Target="../media/image75.png" Type="http://schemas.openxmlformats.org/officeDocument/2006/relationships/image"/><Relationship Id="rId7" Target="../media/image7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1976890" cy="10287000"/>
          </a:xfrm>
          <a:custGeom>
            <a:avLst/>
            <a:gdLst/>
            <a:ahLst/>
            <a:cxnLst/>
            <a:rect r="r" b="b" t="t" l="l"/>
            <a:pathLst>
              <a:path h="10287000" w="11976890">
                <a:moveTo>
                  <a:pt x="0" y="0"/>
                </a:moveTo>
                <a:lnTo>
                  <a:pt x="11976890" y="0"/>
                </a:lnTo>
                <a:lnTo>
                  <a:pt x="1197689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4678" y="866780"/>
            <a:ext cx="8862641" cy="3582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31"/>
              </a:lnSpc>
            </a:pPr>
            <a:r>
              <a:rPr lang="en-US" sz="8718" spc="-259" b="true">
                <a:solidFill>
                  <a:srgbClr val="052F50"/>
                </a:solidFill>
                <a:latin typeface="Roboto Bold"/>
                <a:ea typeface="Roboto Bold"/>
                <a:cs typeface="Roboto Bold"/>
                <a:sym typeface="Roboto Bold"/>
              </a:rPr>
              <a:t>Predicting Traffic Speed on a</a:t>
            </a:r>
          </a:p>
          <a:p>
            <a:pPr algn="l">
              <a:lnSpc>
                <a:spcPts val="9331"/>
              </a:lnSpc>
            </a:pPr>
            <a:r>
              <a:rPr lang="en-US" sz="8718" spc="-259" b="true">
                <a:solidFill>
                  <a:srgbClr val="052F50"/>
                </a:solidFill>
                <a:latin typeface="Roboto Bold"/>
                <a:ea typeface="Roboto Bold"/>
                <a:cs typeface="Roboto Bold"/>
                <a:sym typeface="Roboto Bold"/>
              </a:rPr>
              <a:t>Road Network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4493047"/>
            <a:ext cx="6978316" cy="437279"/>
          </a:xfrm>
          <a:custGeom>
            <a:avLst/>
            <a:gdLst/>
            <a:ahLst/>
            <a:cxnLst/>
            <a:rect r="r" b="b" t="t" l="l"/>
            <a:pathLst>
              <a:path h="437279" w="6978316">
                <a:moveTo>
                  <a:pt x="0" y="0"/>
                </a:moveTo>
                <a:lnTo>
                  <a:pt x="6978316" y="0"/>
                </a:lnTo>
                <a:lnTo>
                  <a:pt x="697831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8406" y="4963285"/>
            <a:ext cx="6168756" cy="93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9"/>
              </a:lnSpc>
            </a:pPr>
            <a:r>
              <a:rPr lang="en-US" sz="3132" spc="-62" b="true">
                <a:solidFill>
                  <a:srgbClr val="4093BB"/>
                </a:solidFill>
                <a:latin typeface="Roboto Bold"/>
                <a:ea typeface="Roboto Bold"/>
                <a:cs typeface="Roboto Bold"/>
                <a:sym typeface="Roboto Bold"/>
              </a:rPr>
              <a:t>Project 4: Traffic Flow Prediction and Signal Control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5990729"/>
            <a:ext cx="6978316" cy="229572"/>
          </a:xfrm>
          <a:custGeom>
            <a:avLst/>
            <a:gdLst/>
            <a:ahLst/>
            <a:cxnLst/>
            <a:rect r="r" b="b" t="t" l="l"/>
            <a:pathLst>
              <a:path h="229572" w="6978316">
                <a:moveTo>
                  <a:pt x="0" y="0"/>
                </a:moveTo>
                <a:lnTo>
                  <a:pt x="6978316" y="0"/>
                </a:lnTo>
                <a:lnTo>
                  <a:pt x="697831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06307" y="6416201"/>
            <a:ext cx="4378654" cy="458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5"/>
              </a:lnSpc>
            </a:pPr>
            <a:r>
              <a:rPr lang="en-US" sz="2812" spc="-56">
                <a:solidFill>
                  <a:srgbClr val="4093BB"/>
                </a:solidFill>
                <a:latin typeface="Roboto"/>
                <a:ea typeface="Roboto"/>
                <a:cs typeface="Roboto"/>
                <a:sym typeface="Roboto"/>
              </a:rPr>
              <a:t>Phase 1: Machine Learning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6223" y="7154158"/>
            <a:ext cx="3387060" cy="426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601" spc="-52" b="true">
                <a:solidFill>
                  <a:srgbClr val="052F50"/>
                </a:solidFill>
                <a:latin typeface="Roboto Bold"/>
                <a:ea typeface="Roboto Bold"/>
                <a:cs typeface="Roboto Bold"/>
                <a:sym typeface="Roboto Bold"/>
              </a:rPr>
              <a:t>Team T072, Section 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5538" y="7741507"/>
            <a:ext cx="2455608" cy="1965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6"/>
              </a:lnSpc>
            </a:pPr>
            <a:r>
              <a:rPr lang="en-US" sz="2390" spc="-47">
                <a:solidFill>
                  <a:srgbClr val="052F50"/>
                </a:solidFill>
                <a:latin typeface="Roboto"/>
                <a:ea typeface="Roboto"/>
                <a:cs typeface="Roboto"/>
                <a:sym typeface="Roboto"/>
              </a:rPr>
              <a:t>Rudraksh Sharma</a:t>
            </a:r>
          </a:p>
          <a:p>
            <a:pPr algn="l">
              <a:lnSpc>
                <a:spcPts val="3226"/>
              </a:lnSpc>
            </a:pPr>
            <a:r>
              <a:rPr lang="en-US" sz="2390" spc="-47">
                <a:solidFill>
                  <a:srgbClr val="052F50"/>
                </a:solidFill>
                <a:latin typeface="Roboto"/>
                <a:ea typeface="Roboto"/>
                <a:cs typeface="Roboto"/>
                <a:sym typeface="Roboto"/>
              </a:rPr>
              <a:t>Anshuman Mehta</a:t>
            </a:r>
          </a:p>
          <a:p>
            <a:pPr algn="l">
              <a:lnSpc>
                <a:spcPts val="3226"/>
              </a:lnSpc>
            </a:pPr>
            <a:r>
              <a:rPr lang="en-US" sz="2390" spc="-47">
                <a:solidFill>
                  <a:srgbClr val="052F50"/>
                </a:solidFill>
                <a:latin typeface="Roboto"/>
                <a:ea typeface="Roboto"/>
                <a:cs typeface="Roboto"/>
                <a:sym typeface="Roboto"/>
              </a:rPr>
              <a:t>Vridhi Chaudhary</a:t>
            </a:r>
          </a:p>
          <a:p>
            <a:pPr algn="l">
              <a:lnSpc>
                <a:spcPts val="3226"/>
              </a:lnSpc>
            </a:pPr>
            <a:r>
              <a:rPr lang="en-US" sz="2390" spc="-47">
                <a:solidFill>
                  <a:srgbClr val="052F50"/>
                </a:solidFill>
                <a:latin typeface="Roboto"/>
                <a:ea typeface="Roboto"/>
                <a:cs typeface="Roboto"/>
                <a:sym typeface="Roboto"/>
              </a:rPr>
              <a:t>Bineet Keshari</a:t>
            </a:r>
          </a:p>
          <a:p>
            <a:pPr algn="l">
              <a:lnSpc>
                <a:spcPts val="3226"/>
              </a:lnSpc>
            </a:pPr>
            <a:r>
              <a:rPr lang="en-US" sz="2390" spc="-47">
                <a:solidFill>
                  <a:srgbClr val="052F50"/>
                </a:solidFill>
                <a:latin typeface="Roboto"/>
                <a:ea typeface="Roboto"/>
                <a:cs typeface="Roboto"/>
                <a:sym typeface="Roboto"/>
              </a:rPr>
              <a:t>Kavya Katal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50220" y="0"/>
            <a:ext cx="4582938" cy="10287000"/>
          </a:xfrm>
          <a:custGeom>
            <a:avLst/>
            <a:gdLst/>
            <a:ahLst/>
            <a:cxnLst/>
            <a:rect r="r" b="b" t="t" l="l"/>
            <a:pathLst>
              <a:path h="10287000" w="4582938">
                <a:moveTo>
                  <a:pt x="0" y="0"/>
                </a:moveTo>
                <a:lnTo>
                  <a:pt x="4582938" y="0"/>
                </a:lnTo>
                <a:lnTo>
                  <a:pt x="45829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25244" y="0"/>
            <a:ext cx="9362756" cy="10287000"/>
          </a:xfrm>
          <a:custGeom>
            <a:avLst/>
            <a:gdLst/>
            <a:ahLst/>
            <a:cxnLst/>
            <a:rect r="r" b="b" t="t" l="l"/>
            <a:pathLst>
              <a:path h="10287000" w="9362756">
                <a:moveTo>
                  <a:pt x="0" y="0"/>
                </a:moveTo>
                <a:lnTo>
                  <a:pt x="9362756" y="0"/>
                </a:lnTo>
                <a:lnTo>
                  <a:pt x="93627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4739" y="992719"/>
            <a:ext cx="7140975" cy="1375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82"/>
              </a:lnSpc>
            </a:pPr>
            <a:r>
              <a:rPr lang="en-US" sz="9623" spc="-93" b="true">
                <a:solidFill>
                  <a:srgbClr val="053050"/>
                </a:solidFill>
                <a:latin typeface="Roboto Bold"/>
                <a:ea typeface="Roboto Bold"/>
                <a:cs typeface="Roboto Bold"/>
                <a:sym typeface="Roboto Bold"/>
              </a:rPr>
              <a:t>The Problem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8447" y="2539982"/>
            <a:ext cx="8880319" cy="49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6"/>
              </a:lnSpc>
            </a:pPr>
            <a:r>
              <a:rPr lang="en-US" sz="3128" spc="30" b="true">
                <a:solidFill>
                  <a:srgbClr val="3B89A8"/>
                </a:solidFill>
                <a:latin typeface="Roboto Bold"/>
                <a:ea typeface="Roboto Bold"/>
                <a:cs typeface="Roboto Bold"/>
                <a:sym typeface="Roboto Bold"/>
              </a:rPr>
              <a:t>Traffic spreads fast. We forecast to stay ahead.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5816" y="3453167"/>
            <a:ext cx="4253542" cy="748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373" spc="47">
                <a:solidFill>
                  <a:srgbClr val="053050"/>
                </a:solidFill>
                <a:latin typeface="Roboto"/>
                <a:ea typeface="Roboto"/>
                <a:cs typeface="Roboto"/>
                <a:sym typeface="Roboto"/>
              </a:rPr>
              <a:t>Traffic jams start on one road</a:t>
            </a:r>
          </a:p>
          <a:p>
            <a:pPr algn="l">
              <a:lnSpc>
                <a:spcPts val="3084"/>
              </a:lnSpc>
            </a:pPr>
            <a:r>
              <a:rPr lang="en-US" sz="2373" spc="47">
                <a:solidFill>
                  <a:srgbClr val="053050"/>
                </a:solidFill>
                <a:latin typeface="Roboto"/>
                <a:ea typeface="Roboto"/>
                <a:cs typeface="Roboto"/>
                <a:sym typeface="Roboto"/>
              </a:rPr>
              <a:t>and spread to nearby roads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82842" y="4285339"/>
            <a:ext cx="4364182" cy="218640"/>
          </a:xfrm>
          <a:custGeom>
            <a:avLst/>
            <a:gdLst/>
            <a:ahLst/>
            <a:cxnLst/>
            <a:rect r="r" b="b" t="t" l="l"/>
            <a:pathLst>
              <a:path h="218640" w="4364182">
                <a:moveTo>
                  <a:pt x="0" y="0"/>
                </a:moveTo>
                <a:lnTo>
                  <a:pt x="4364182" y="0"/>
                </a:lnTo>
                <a:lnTo>
                  <a:pt x="436418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46109" y="4688156"/>
            <a:ext cx="5224220" cy="748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373" spc="47">
                <a:solidFill>
                  <a:srgbClr val="053050"/>
                </a:solidFill>
                <a:latin typeface="Roboto"/>
                <a:ea typeface="Roboto"/>
                <a:cs typeface="Roboto"/>
                <a:sym typeface="Roboto"/>
              </a:rPr>
              <a:t>Goal: predict the speed at every road sensor 15, 30 and 60 minutes ahead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82842" y="5564382"/>
            <a:ext cx="5457962" cy="229572"/>
          </a:xfrm>
          <a:custGeom>
            <a:avLst/>
            <a:gdLst/>
            <a:ahLst/>
            <a:cxnLst/>
            <a:rect r="r" b="b" t="t" l="l"/>
            <a:pathLst>
              <a:path h="229572" w="5457962">
                <a:moveTo>
                  <a:pt x="0" y="0"/>
                </a:moveTo>
                <a:lnTo>
                  <a:pt x="5457962" y="0"/>
                </a:lnTo>
                <a:lnTo>
                  <a:pt x="545796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54545" y="5877962"/>
            <a:ext cx="4380613" cy="748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373" spc="47">
                <a:solidFill>
                  <a:srgbClr val="053050"/>
                </a:solidFill>
                <a:latin typeface="Roboto"/>
                <a:ea typeface="Roboto"/>
                <a:cs typeface="Roboto"/>
                <a:sym typeface="Roboto"/>
              </a:rPr>
              <a:t>Phase 1: one machine-learning</a:t>
            </a:r>
          </a:p>
          <a:p>
            <a:pPr algn="l">
              <a:lnSpc>
                <a:spcPts val="3084"/>
              </a:lnSpc>
            </a:pPr>
            <a:r>
              <a:rPr lang="en-US" sz="2373" spc="47">
                <a:solidFill>
                  <a:srgbClr val="053050"/>
                </a:solidFill>
                <a:latin typeface="Roboto"/>
                <a:ea typeface="Roboto"/>
                <a:cs typeface="Roboto"/>
                <a:sym typeface="Roboto"/>
              </a:rPr>
              <a:t>model per sensor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82842" y="6854356"/>
            <a:ext cx="5457962" cy="218640"/>
          </a:xfrm>
          <a:custGeom>
            <a:avLst/>
            <a:gdLst/>
            <a:ahLst/>
            <a:cxnLst/>
            <a:rect r="r" b="b" t="t" l="l"/>
            <a:pathLst>
              <a:path h="218640" w="5457962">
                <a:moveTo>
                  <a:pt x="0" y="0"/>
                </a:moveTo>
                <a:lnTo>
                  <a:pt x="5457962" y="0"/>
                </a:lnTo>
                <a:lnTo>
                  <a:pt x="545796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51471" y="7112951"/>
            <a:ext cx="4688064" cy="748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373" spc="47">
                <a:solidFill>
                  <a:srgbClr val="053050"/>
                </a:solidFill>
                <a:latin typeface="Roboto"/>
                <a:ea typeface="Roboto"/>
                <a:cs typeface="Roboto"/>
                <a:sym typeface="Roboto"/>
              </a:rPr>
              <a:t>Phase 2: a graph model that also</a:t>
            </a:r>
          </a:p>
          <a:p>
            <a:pPr algn="l">
              <a:lnSpc>
                <a:spcPts val="3084"/>
              </a:lnSpc>
            </a:pPr>
            <a:r>
              <a:rPr lang="en-US" sz="2373" spc="47">
                <a:solidFill>
                  <a:srgbClr val="053050"/>
                </a:solidFill>
                <a:latin typeface="Roboto"/>
                <a:ea typeface="Roboto"/>
                <a:cs typeface="Roboto"/>
                <a:sym typeface="Roboto"/>
              </a:rPr>
              <a:t>looks at neighbouring roads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82842" y="7925691"/>
            <a:ext cx="5457962" cy="218640"/>
          </a:xfrm>
          <a:custGeom>
            <a:avLst/>
            <a:gdLst/>
            <a:ahLst/>
            <a:cxnLst/>
            <a:rect r="r" b="b" t="t" l="l"/>
            <a:pathLst>
              <a:path h="218640" w="5457962">
                <a:moveTo>
                  <a:pt x="0" y="0"/>
                </a:moveTo>
                <a:lnTo>
                  <a:pt x="5457962" y="0"/>
                </a:lnTo>
                <a:lnTo>
                  <a:pt x="545796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53201" y="8332880"/>
            <a:ext cx="4515071" cy="748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373" spc="47">
                <a:solidFill>
                  <a:srgbClr val="053050"/>
                </a:solidFill>
                <a:latin typeface="Roboto"/>
                <a:ea typeface="Roboto"/>
                <a:cs typeface="Roboto"/>
                <a:sym typeface="Roboto"/>
              </a:rPr>
              <a:t>Any traffic signal control is only simulated, never on real roads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5330" y="3640352"/>
            <a:ext cx="8717426" cy="5793953"/>
          </a:xfrm>
          <a:custGeom>
            <a:avLst/>
            <a:gdLst/>
            <a:ahLst/>
            <a:cxnLst/>
            <a:rect r="r" b="b" t="t" l="l"/>
            <a:pathLst>
              <a:path h="5793953" w="8717426">
                <a:moveTo>
                  <a:pt x="0" y="0"/>
                </a:moveTo>
                <a:lnTo>
                  <a:pt x="8717426" y="0"/>
                </a:lnTo>
                <a:lnTo>
                  <a:pt x="8717426" y="5793953"/>
                </a:lnTo>
                <a:lnTo>
                  <a:pt x="0" y="57939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5330" y="3640352"/>
            <a:ext cx="448450" cy="5793953"/>
          </a:xfrm>
          <a:custGeom>
            <a:avLst/>
            <a:gdLst/>
            <a:ahLst/>
            <a:cxnLst/>
            <a:rect r="r" b="b" t="t" l="l"/>
            <a:pathLst>
              <a:path h="5793953" w="448450">
                <a:moveTo>
                  <a:pt x="0" y="0"/>
                </a:moveTo>
                <a:lnTo>
                  <a:pt x="448450" y="0"/>
                </a:lnTo>
                <a:lnTo>
                  <a:pt x="448450" y="5793953"/>
                </a:lnTo>
                <a:lnTo>
                  <a:pt x="0" y="57939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9351" y="1026952"/>
            <a:ext cx="9358694" cy="2332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3"/>
              </a:lnSpc>
            </a:pPr>
            <a:r>
              <a:rPr lang="en-US" sz="8544" spc="-171" b="true">
                <a:solidFill>
                  <a:srgbClr val="183D5D"/>
                </a:solidFill>
                <a:latin typeface="Roboto Bold"/>
                <a:ea typeface="Roboto Bold"/>
                <a:cs typeface="Roboto Bold"/>
                <a:sym typeface="Roboto Bold"/>
              </a:rPr>
              <a:t>The Data and</a:t>
            </a:r>
          </a:p>
          <a:p>
            <a:pPr algn="l">
              <a:lnSpc>
                <a:spcPts val="9053"/>
              </a:lnSpc>
            </a:pPr>
            <a:r>
              <a:rPr lang="en-US" sz="8544" spc="-171" b="true">
                <a:solidFill>
                  <a:srgbClr val="183D5D"/>
                </a:solidFill>
                <a:latin typeface="Roboto Bold"/>
                <a:ea typeface="Roboto Bold"/>
                <a:cs typeface="Roboto Bold"/>
                <a:sym typeface="Roboto Bold"/>
              </a:rPr>
              <a:t>How We Checked It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8293" y="4207720"/>
            <a:ext cx="7473855" cy="39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302" b="true">
                <a:solidFill>
                  <a:srgbClr val="4D89A9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METR-LA: </a:t>
            </a:r>
            <a:r>
              <a:rPr lang="en-US" sz="2302" b="true">
                <a:solidFill>
                  <a:srgbClr val="183D5D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207 speed sensors on Los Angeles highways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01598" y="4711687"/>
            <a:ext cx="7415828" cy="218640"/>
          </a:xfrm>
          <a:custGeom>
            <a:avLst/>
            <a:gdLst/>
            <a:ahLst/>
            <a:cxnLst/>
            <a:rect r="r" b="b" t="t" l="l"/>
            <a:pathLst>
              <a:path h="218640" w="7415828">
                <a:moveTo>
                  <a:pt x="0" y="0"/>
                </a:moveTo>
                <a:lnTo>
                  <a:pt x="7415828" y="0"/>
                </a:lnTo>
                <a:lnTo>
                  <a:pt x="741582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26083" y="5111364"/>
            <a:ext cx="6694812" cy="783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302" b="true">
                <a:solidFill>
                  <a:srgbClr val="183D5D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One reading every </a:t>
            </a:r>
            <a:r>
              <a:rPr lang="en-US" sz="2302" b="true">
                <a:solidFill>
                  <a:srgbClr val="4D89A9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5 minutes</a:t>
            </a:r>
            <a:r>
              <a:rPr lang="en-US" sz="2302" b="true">
                <a:solidFill>
                  <a:srgbClr val="183D5D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, March to June 2012 (34,272 time steps)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01598" y="5990729"/>
            <a:ext cx="7415828" cy="229572"/>
          </a:xfrm>
          <a:custGeom>
            <a:avLst/>
            <a:gdLst/>
            <a:ahLst/>
            <a:cxnLst/>
            <a:rect r="r" b="b" t="t" l="l"/>
            <a:pathLst>
              <a:path h="229572" w="7415828">
                <a:moveTo>
                  <a:pt x="0" y="0"/>
                </a:moveTo>
                <a:lnTo>
                  <a:pt x="7415828" y="0"/>
                </a:lnTo>
                <a:lnTo>
                  <a:pt x="741582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39427" y="6451779"/>
            <a:ext cx="5360380" cy="783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302" b="true">
                <a:solidFill>
                  <a:srgbClr val="183D5D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We checked the </a:t>
            </a:r>
            <a:r>
              <a:rPr lang="en-US" sz="2302" b="true">
                <a:solidFill>
                  <a:srgbClr val="4D89A9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size</a:t>
            </a:r>
            <a:r>
              <a:rPr lang="en-US" sz="2302" b="true">
                <a:solidFill>
                  <a:srgbClr val="183D5D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, the </a:t>
            </a:r>
            <a:r>
              <a:rPr lang="en-US" sz="2302" b="true">
                <a:solidFill>
                  <a:srgbClr val="4D89A9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5-minute gaps</a:t>
            </a:r>
          </a:p>
          <a:p>
            <a:pPr algn="l">
              <a:lnSpc>
                <a:spcPts val="3224"/>
              </a:lnSpc>
            </a:pPr>
            <a:r>
              <a:rPr lang="en-US" sz="2302" b="true">
                <a:solidFill>
                  <a:srgbClr val="183D5D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and the sensor order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01598" y="7499343"/>
            <a:ext cx="7415828" cy="218640"/>
          </a:xfrm>
          <a:custGeom>
            <a:avLst/>
            <a:gdLst/>
            <a:ahLst/>
            <a:cxnLst/>
            <a:rect r="r" b="b" t="t" l="l"/>
            <a:pathLst>
              <a:path h="218640" w="7415828">
                <a:moveTo>
                  <a:pt x="0" y="0"/>
                </a:moveTo>
                <a:lnTo>
                  <a:pt x="7415828" y="0"/>
                </a:lnTo>
                <a:lnTo>
                  <a:pt x="741582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28332" y="7762072"/>
            <a:ext cx="6469947" cy="39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302" b="true">
                <a:solidFill>
                  <a:srgbClr val="183D5D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Our rebuilt road map </a:t>
            </a:r>
            <a:r>
              <a:rPr lang="en-US" sz="2302" b="true">
                <a:solidFill>
                  <a:srgbClr val="4D89A9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matches</a:t>
            </a:r>
            <a:r>
              <a:rPr lang="en-US" sz="2302" b="true">
                <a:solidFill>
                  <a:srgbClr val="183D5D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 the published one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01598" y="8352038"/>
            <a:ext cx="7415828" cy="229572"/>
          </a:xfrm>
          <a:custGeom>
            <a:avLst/>
            <a:gdLst/>
            <a:ahLst/>
            <a:cxnLst/>
            <a:rect r="r" b="b" t="t" l="l"/>
            <a:pathLst>
              <a:path h="229572" w="7415828">
                <a:moveTo>
                  <a:pt x="0" y="0"/>
                </a:moveTo>
                <a:lnTo>
                  <a:pt x="7415828" y="0"/>
                </a:lnTo>
                <a:lnTo>
                  <a:pt x="741582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35322" y="8695844"/>
            <a:ext cx="5770952" cy="39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302" b="true">
                <a:solidFill>
                  <a:srgbClr val="183D5D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The data has speed only, no vehicle counts</a:t>
            </a:r>
          </a:p>
        </p:txBody>
      </p:sp>
      <p:sp>
        <p:nvSpPr>
          <p:cNvPr name="Freeform 15" id="15" descr="Map of the 207 METR-LA sensors on the road graph, coloured by average training speed"/>
          <p:cNvSpPr/>
          <p:nvPr/>
        </p:nvSpPr>
        <p:spPr>
          <a:xfrm flipH="false" flipV="false" rot="0">
            <a:off x="10287000" y="2857500"/>
            <a:ext cx="7620000" cy="5143500"/>
          </a:xfrm>
          <a:custGeom>
            <a:avLst/>
            <a:gdLst/>
            <a:ahLst/>
            <a:cxnLst/>
            <a:rect r="r" b="b" t="t" l="l"/>
            <a:pathLst>
              <a:path h="5143500" w="7620000">
                <a:moveTo>
                  <a:pt x="0" y="0"/>
                </a:moveTo>
                <a:lnTo>
                  <a:pt x="7620000" y="0"/>
                </a:lnTo>
                <a:lnTo>
                  <a:pt x="7620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92" t="0" r="-92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22220" y="0"/>
            <a:ext cx="5665780" cy="10287000"/>
          </a:xfrm>
          <a:custGeom>
            <a:avLst/>
            <a:gdLst/>
            <a:ahLst/>
            <a:cxnLst/>
            <a:rect r="r" b="b" t="t" l="l"/>
            <a:pathLst>
              <a:path h="10287000" w="5665780">
                <a:moveTo>
                  <a:pt x="0" y="0"/>
                </a:moveTo>
                <a:lnTo>
                  <a:pt x="5665780" y="0"/>
                </a:lnTo>
                <a:lnTo>
                  <a:pt x="56657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48622" y="3421712"/>
            <a:ext cx="5447024" cy="6012593"/>
          </a:xfrm>
          <a:custGeom>
            <a:avLst/>
            <a:gdLst/>
            <a:ahLst/>
            <a:cxnLst/>
            <a:rect r="r" b="b" t="t" l="l"/>
            <a:pathLst>
              <a:path h="6012593" w="5447024">
                <a:moveTo>
                  <a:pt x="0" y="0"/>
                </a:moveTo>
                <a:lnTo>
                  <a:pt x="5447024" y="0"/>
                </a:lnTo>
                <a:lnTo>
                  <a:pt x="5447024" y="6012593"/>
                </a:lnTo>
                <a:lnTo>
                  <a:pt x="0" y="60125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8085" y="866737"/>
            <a:ext cx="10164162" cy="2177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3"/>
              </a:lnSpc>
            </a:pPr>
            <a:r>
              <a:rPr lang="en-US" sz="7935" b="true">
                <a:solidFill>
                  <a:srgbClr val="082D49"/>
                </a:solidFill>
                <a:latin typeface="Roboto Bold"/>
                <a:ea typeface="Roboto Bold"/>
                <a:cs typeface="Roboto Bold"/>
                <a:sym typeface="Roboto Bold"/>
              </a:rPr>
              <a:t>Cleaning the Data</a:t>
            </a:r>
          </a:p>
          <a:p>
            <a:pPr algn="l">
              <a:lnSpc>
                <a:spcPts val="8493"/>
              </a:lnSpc>
            </a:pPr>
            <a:r>
              <a:rPr lang="en-US" sz="7935" b="true">
                <a:solidFill>
                  <a:srgbClr val="082D49"/>
                </a:solidFill>
                <a:latin typeface="Roboto Bold"/>
                <a:ea typeface="Roboto Bold"/>
                <a:cs typeface="Roboto Bold"/>
                <a:sym typeface="Roboto Bold"/>
              </a:rPr>
              <a:t>and Building Features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4162" y="3909084"/>
            <a:ext cx="2556484" cy="1266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10"/>
              </a:lnSpc>
            </a:pPr>
            <a:r>
              <a:rPr lang="en-US" sz="8979" b="true">
                <a:solidFill>
                  <a:srgbClr val="447389"/>
                </a:solidFill>
                <a:latin typeface="Roboto Bold"/>
                <a:ea typeface="Roboto Bold"/>
                <a:cs typeface="Roboto Bold"/>
                <a:sym typeface="Roboto Bold"/>
              </a:rPr>
              <a:t>8.1%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84354" y="3654484"/>
            <a:ext cx="3033319" cy="1496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5"/>
              </a:lnSpc>
            </a:pPr>
            <a:r>
              <a:rPr lang="en-US" sz="2302" b="true">
                <a:solidFill>
                  <a:srgbClr val="082D49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of readings are missing; 0 mph means the sensor was off, so we ignore it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5356674"/>
            <a:ext cx="5457962" cy="218640"/>
          </a:xfrm>
          <a:custGeom>
            <a:avLst/>
            <a:gdLst/>
            <a:ahLst/>
            <a:cxnLst/>
            <a:rect r="r" b="b" t="t" l="l"/>
            <a:pathLst>
              <a:path h="218640" w="5457962">
                <a:moveTo>
                  <a:pt x="0" y="0"/>
                </a:moveTo>
                <a:lnTo>
                  <a:pt x="5457962" y="0"/>
                </a:lnTo>
                <a:lnTo>
                  <a:pt x="545796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78762" y="5793122"/>
            <a:ext cx="4454260" cy="746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5"/>
              </a:lnSpc>
            </a:pPr>
            <a:r>
              <a:rPr lang="en-US" sz="2302" b="true">
                <a:solidFill>
                  <a:srgbClr val="082D49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Split by time: first 70% to train,</a:t>
            </a:r>
          </a:p>
          <a:p>
            <a:pPr algn="l">
              <a:lnSpc>
                <a:spcPts val="3085"/>
              </a:lnSpc>
            </a:pPr>
            <a:r>
              <a:rPr lang="en-US" sz="2302" b="true">
                <a:solidFill>
                  <a:srgbClr val="082D49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next 10% to tune, last 20% to test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5330" y="6635716"/>
            <a:ext cx="5457962" cy="437279"/>
          </a:xfrm>
          <a:custGeom>
            <a:avLst/>
            <a:gdLst/>
            <a:ahLst/>
            <a:cxnLst/>
            <a:rect r="r" b="b" t="t" l="l"/>
            <a:pathLst>
              <a:path h="437279" w="5457962">
                <a:moveTo>
                  <a:pt x="0" y="0"/>
                </a:moveTo>
                <a:lnTo>
                  <a:pt x="5457962" y="0"/>
                </a:lnTo>
                <a:lnTo>
                  <a:pt x="545796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80428" y="7103416"/>
            <a:ext cx="4287649" cy="746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5"/>
              </a:lnSpc>
            </a:pPr>
            <a:r>
              <a:rPr lang="en-US" sz="2302" b="true">
                <a:solidFill>
                  <a:srgbClr val="082D49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Never a random split, so the</a:t>
            </a:r>
          </a:p>
          <a:p>
            <a:pPr algn="l">
              <a:lnSpc>
                <a:spcPts val="3085"/>
              </a:lnSpc>
            </a:pPr>
            <a:r>
              <a:rPr lang="en-US" sz="2302" b="true">
                <a:solidFill>
                  <a:srgbClr val="082D49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model cannot peek at the future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45330" y="8133399"/>
            <a:ext cx="5457962" cy="229572"/>
          </a:xfrm>
          <a:custGeom>
            <a:avLst/>
            <a:gdLst/>
            <a:ahLst/>
            <a:cxnLst/>
            <a:rect r="r" b="b" t="t" l="l"/>
            <a:pathLst>
              <a:path h="229572" w="5457962">
                <a:moveTo>
                  <a:pt x="0" y="0"/>
                </a:moveTo>
                <a:lnTo>
                  <a:pt x="5457962" y="0"/>
                </a:lnTo>
                <a:lnTo>
                  <a:pt x="545796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82236" y="8383587"/>
            <a:ext cx="4106874" cy="746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5"/>
              </a:lnSpc>
            </a:pPr>
            <a:r>
              <a:rPr lang="en-US" sz="2302" b="true">
                <a:solidFill>
                  <a:srgbClr val="082D49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Time of day and day of week</a:t>
            </a:r>
          </a:p>
          <a:p>
            <a:pPr algn="l">
              <a:lnSpc>
                <a:spcPts val="3085"/>
              </a:lnSpc>
            </a:pPr>
            <a:r>
              <a:rPr lang="en-US" sz="2302" b="true">
                <a:solidFill>
                  <a:srgbClr val="082D49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written as circles (sin and cos)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40226" y="3706398"/>
            <a:ext cx="2676628" cy="251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65"/>
              </a:lnSpc>
            </a:pPr>
            <a:r>
              <a:rPr lang="en-US" sz="180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38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83572" y="5864478"/>
            <a:ext cx="3699805" cy="534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7"/>
              </a:lnSpc>
            </a:pPr>
            <a:r>
              <a:rPr lang="en-US" sz="3251" b="true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features per sensor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393952" y="6635716"/>
            <a:ext cx="4145426" cy="229572"/>
          </a:xfrm>
          <a:custGeom>
            <a:avLst/>
            <a:gdLst/>
            <a:ahLst/>
            <a:cxnLst/>
            <a:rect r="r" b="b" t="t" l="l"/>
            <a:pathLst>
              <a:path h="229572" w="4145426">
                <a:moveTo>
                  <a:pt x="0" y="0"/>
                </a:moveTo>
                <a:lnTo>
                  <a:pt x="4145426" y="0"/>
                </a:lnTo>
                <a:lnTo>
                  <a:pt x="414542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397421" y="6988478"/>
            <a:ext cx="2314899" cy="42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619" b="true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Last 12 speeds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79146" y="7681277"/>
            <a:ext cx="4142391" cy="42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619" b="true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15 and 30 minute averages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99977" y="8374076"/>
            <a:ext cx="2059329" cy="42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619" b="true">
                <a:solidFill>
                  <a:srgbClr val="FFFFF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Missing flags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9142" y="881798"/>
            <a:ext cx="9416245" cy="115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35"/>
              </a:lnSpc>
            </a:pPr>
            <a:r>
              <a:rPr lang="en-US" sz="7611" b="true">
                <a:solidFill>
                  <a:srgbClr val="083250"/>
                </a:solidFill>
                <a:latin typeface="Roboto Bold"/>
                <a:ea typeface="Roboto Bold"/>
                <a:cs typeface="Roboto Bold"/>
                <a:sym typeface="Roboto Bold"/>
              </a:rPr>
              <a:t>What the Data Shows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350377"/>
            <a:ext cx="10248718" cy="1727254"/>
          </a:xfrm>
          <a:custGeom>
            <a:avLst/>
            <a:gdLst/>
            <a:ahLst/>
            <a:cxnLst/>
            <a:rect r="r" b="b" t="t" l="l"/>
            <a:pathLst>
              <a:path h="1727254" w="10248718">
                <a:moveTo>
                  <a:pt x="0" y="0"/>
                </a:moveTo>
                <a:lnTo>
                  <a:pt x="10248718" y="0"/>
                </a:lnTo>
                <a:lnTo>
                  <a:pt x="1024871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85484" y="2592206"/>
            <a:ext cx="6644611" cy="103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8"/>
              </a:lnSpc>
            </a:pPr>
            <a:r>
              <a:rPr lang="en-US" sz="3005" b="true">
                <a:solidFill>
                  <a:srgbClr val="083250"/>
                </a:solidFill>
                <a:latin typeface="Roboto Bold"/>
                <a:ea typeface="Roboto Bold"/>
                <a:cs typeface="Roboto Bold"/>
                <a:sym typeface="Roboto Bold"/>
              </a:rPr>
              <a:t>Weekdays see major slowdowns</a:t>
            </a:r>
          </a:p>
          <a:p>
            <a:pPr algn="l">
              <a:lnSpc>
                <a:spcPts val="4208"/>
              </a:lnSpc>
            </a:pPr>
            <a:r>
              <a:rPr lang="en-US" sz="3005" b="true">
                <a:solidFill>
                  <a:srgbClr val="083250"/>
                </a:solidFill>
                <a:latin typeface="Roboto Bold"/>
                <a:ea typeface="Roboto Bold"/>
                <a:cs typeface="Roboto Bold"/>
                <a:sym typeface="Roboto Bold"/>
              </a:rPr>
              <a:t>around </a:t>
            </a:r>
            <a:r>
              <a:rPr lang="en-US" sz="3005" b="true">
                <a:solidFill>
                  <a:srgbClr val="3B93B4"/>
                </a:solidFill>
                <a:latin typeface="Roboto Bold"/>
                <a:ea typeface="Roboto Bold"/>
                <a:cs typeface="Roboto Bold"/>
                <a:sym typeface="Roboto Bold"/>
              </a:rPr>
              <a:t>8–9 am</a:t>
            </a:r>
            <a:r>
              <a:rPr lang="en-US" sz="3005" b="true">
                <a:solidFill>
                  <a:srgbClr val="083250"/>
                </a:solidFill>
                <a:latin typeface="Roboto Bold"/>
                <a:ea typeface="Roboto Bold"/>
                <a:cs typeface="Roboto Bold"/>
                <a:sym typeface="Roboto Bold"/>
              </a:rPr>
              <a:t> and around </a:t>
            </a:r>
            <a:r>
              <a:rPr lang="en-US" sz="3005" b="true">
                <a:solidFill>
                  <a:srgbClr val="3B93B4"/>
                </a:solidFill>
                <a:latin typeface="Roboto Bold"/>
                <a:ea typeface="Roboto Bold"/>
                <a:cs typeface="Roboto Bold"/>
                <a:sym typeface="Roboto Bold"/>
              </a:rPr>
              <a:t>5:30 pm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4066699"/>
            <a:ext cx="9811206" cy="1727254"/>
          </a:xfrm>
          <a:custGeom>
            <a:avLst/>
            <a:gdLst/>
            <a:ahLst/>
            <a:cxnLst/>
            <a:rect r="r" b="b" t="t" l="l"/>
            <a:pathLst>
              <a:path h="1727254" w="9811206">
                <a:moveTo>
                  <a:pt x="0" y="0"/>
                </a:moveTo>
                <a:lnTo>
                  <a:pt x="9811206" y="0"/>
                </a:lnTo>
                <a:lnTo>
                  <a:pt x="981120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09183" y="4294081"/>
            <a:ext cx="4274653" cy="103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8"/>
              </a:lnSpc>
            </a:pPr>
            <a:r>
              <a:rPr lang="en-US" sz="3005" b="true">
                <a:solidFill>
                  <a:srgbClr val="083250"/>
                </a:solidFill>
                <a:latin typeface="Roboto Bold"/>
                <a:ea typeface="Roboto Bold"/>
                <a:cs typeface="Roboto Bold"/>
                <a:sym typeface="Roboto Bold"/>
              </a:rPr>
              <a:t>Weekends </a:t>
            </a:r>
            <a:r>
              <a:rPr lang="en-US" sz="3005" b="true">
                <a:solidFill>
                  <a:srgbClr val="3B93B4"/>
                </a:solidFill>
                <a:latin typeface="Roboto Bold"/>
                <a:ea typeface="Roboto Bold"/>
                <a:cs typeface="Roboto Bold"/>
                <a:sym typeface="Roboto Bold"/>
              </a:rPr>
              <a:t>do not</a:t>
            </a:r>
            <a:r>
              <a:rPr lang="en-US" sz="3005" b="true">
                <a:solidFill>
                  <a:srgbClr val="083250"/>
                </a:solidFill>
                <a:latin typeface="Roboto Bold"/>
                <a:ea typeface="Roboto Bold"/>
                <a:cs typeface="Roboto Bold"/>
                <a:sym typeface="Roboto Bold"/>
              </a:rPr>
              <a:t> have</a:t>
            </a:r>
          </a:p>
          <a:p>
            <a:pPr algn="l">
              <a:lnSpc>
                <a:spcPts val="4208"/>
              </a:lnSpc>
            </a:pPr>
            <a:r>
              <a:rPr lang="en-US" sz="3005" b="true">
                <a:solidFill>
                  <a:srgbClr val="083250"/>
                </a:solidFill>
                <a:latin typeface="Roboto Bold"/>
                <a:ea typeface="Roboto Bold"/>
                <a:cs typeface="Roboto Bold"/>
                <a:sym typeface="Roboto Bold"/>
              </a:rPr>
              <a:t>a morning rush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5783021"/>
            <a:ext cx="9373694" cy="1727254"/>
          </a:xfrm>
          <a:custGeom>
            <a:avLst/>
            <a:gdLst/>
            <a:ahLst/>
            <a:cxnLst/>
            <a:rect r="r" b="b" t="t" l="l"/>
            <a:pathLst>
              <a:path h="1727254" w="9373694">
                <a:moveTo>
                  <a:pt x="0" y="0"/>
                </a:moveTo>
                <a:lnTo>
                  <a:pt x="9373694" y="0"/>
                </a:lnTo>
                <a:lnTo>
                  <a:pt x="937369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81041" y="6005270"/>
            <a:ext cx="7088897" cy="992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4"/>
              </a:lnSpc>
            </a:pPr>
            <a:r>
              <a:rPr lang="en-US" sz="2888" b="true">
                <a:solidFill>
                  <a:srgbClr val="083250"/>
                </a:solidFill>
                <a:latin typeface="Roboto Bold"/>
                <a:ea typeface="Roboto Bold"/>
                <a:cs typeface="Roboto Bold"/>
                <a:sym typeface="Roboto Bold"/>
              </a:rPr>
              <a:t>Some days the </a:t>
            </a:r>
            <a:r>
              <a:rPr lang="en-US" sz="2888" b="true">
                <a:solidFill>
                  <a:srgbClr val="3B93B4"/>
                </a:solidFill>
                <a:latin typeface="Roboto Bold"/>
                <a:ea typeface="Roboto Bold"/>
                <a:cs typeface="Roboto Bold"/>
                <a:sym typeface="Roboto Bold"/>
              </a:rPr>
              <a:t>whole network</a:t>
            </a:r>
            <a:r>
              <a:rPr lang="en-US" sz="2888" b="true">
                <a:solidFill>
                  <a:srgbClr val="083250"/>
                </a:solidFill>
                <a:latin typeface="Roboto Bold"/>
                <a:ea typeface="Roboto Bold"/>
                <a:cs typeface="Roboto Bold"/>
                <a:sym typeface="Roboto Bold"/>
              </a:rPr>
              <a:t> is offline and some sensors are offline for days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5330" y="7499343"/>
            <a:ext cx="8717426" cy="1716322"/>
          </a:xfrm>
          <a:custGeom>
            <a:avLst/>
            <a:gdLst/>
            <a:ahLst/>
            <a:cxnLst/>
            <a:rect r="r" b="b" t="t" l="l"/>
            <a:pathLst>
              <a:path h="1716322" w="8717426">
                <a:moveTo>
                  <a:pt x="0" y="0"/>
                </a:moveTo>
                <a:lnTo>
                  <a:pt x="8717426" y="0"/>
                </a:lnTo>
                <a:lnTo>
                  <a:pt x="8717426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90731" y="7727953"/>
            <a:ext cx="6119881" cy="103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8"/>
              </a:lnSpc>
            </a:pPr>
            <a:r>
              <a:rPr lang="en-US" sz="3005" b="true">
                <a:solidFill>
                  <a:srgbClr val="083250"/>
                </a:solidFill>
                <a:latin typeface="Roboto Bold"/>
                <a:ea typeface="Roboto Bold"/>
                <a:cs typeface="Roboto Bold"/>
                <a:sym typeface="Roboto Bold"/>
              </a:rPr>
              <a:t>Downtown roads are the </a:t>
            </a:r>
            <a:r>
              <a:rPr lang="en-US" sz="3005" b="true">
                <a:solidFill>
                  <a:srgbClr val="3B93B4"/>
                </a:solidFill>
                <a:latin typeface="Roboto Bold"/>
                <a:ea typeface="Roboto Bold"/>
                <a:cs typeface="Roboto Bold"/>
                <a:sym typeface="Roboto Bold"/>
              </a:rPr>
              <a:t>slowest</a:t>
            </a:r>
          </a:p>
          <a:p>
            <a:pPr algn="l">
              <a:lnSpc>
                <a:spcPts val="4208"/>
              </a:lnSpc>
            </a:pPr>
            <a:r>
              <a:rPr lang="en-US" sz="3005" b="true">
                <a:solidFill>
                  <a:srgbClr val="083250"/>
                </a:solidFill>
                <a:latin typeface="Roboto Bold"/>
                <a:ea typeface="Roboto Bold"/>
                <a:cs typeface="Roboto Bold"/>
                <a:sym typeface="Roboto Bold"/>
              </a:rPr>
              <a:t>on average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45330" y="2350377"/>
            <a:ext cx="229694" cy="1727254"/>
          </a:xfrm>
          <a:custGeom>
            <a:avLst/>
            <a:gdLst/>
            <a:ahLst/>
            <a:cxnLst/>
            <a:rect r="r" b="b" t="t" l="l"/>
            <a:pathLst>
              <a:path h="1727254" w="229694">
                <a:moveTo>
                  <a:pt x="0" y="0"/>
                </a:moveTo>
                <a:lnTo>
                  <a:pt x="229694" y="0"/>
                </a:lnTo>
                <a:lnTo>
                  <a:pt x="22969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45330" y="4066699"/>
            <a:ext cx="229694" cy="1727254"/>
          </a:xfrm>
          <a:custGeom>
            <a:avLst/>
            <a:gdLst/>
            <a:ahLst/>
            <a:cxnLst/>
            <a:rect r="r" b="b" t="t" l="l"/>
            <a:pathLst>
              <a:path h="1727254" w="229694">
                <a:moveTo>
                  <a:pt x="0" y="0"/>
                </a:moveTo>
                <a:lnTo>
                  <a:pt x="229694" y="0"/>
                </a:lnTo>
                <a:lnTo>
                  <a:pt x="22969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5330" y="5783021"/>
            <a:ext cx="229694" cy="1727254"/>
          </a:xfrm>
          <a:custGeom>
            <a:avLst/>
            <a:gdLst/>
            <a:ahLst/>
            <a:cxnLst/>
            <a:rect r="r" b="b" t="t" l="l"/>
            <a:pathLst>
              <a:path h="1727254" w="229694">
                <a:moveTo>
                  <a:pt x="0" y="0"/>
                </a:moveTo>
                <a:lnTo>
                  <a:pt x="229694" y="0"/>
                </a:lnTo>
                <a:lnTo>
                  <a:pt x="22969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45330" y="7499343"/>
            <a:ext cx="229694" cy="1716322"/>
          </a:xfrm>
          <a:custGeom>
            <a:avLst/>
            <a:gdLst/>
            <a:ahLst/>
            <a:cxnLst/>
            <a:rect r="r" b="b" t="t" l="l"/>
            <a:pathLst>
              <a:path h="1716322" w="229694">
                <a:moveTo>
                  <a:pt x="0" y="0"/>
                </a:moveTo>
                <a:lnTo>
                  <a:pt x="229694" y="0"/>
                </a:lnTo>
                <a:lnTo>
                  <a:pt x="229694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 descr="Average speed by hour of day for weekdays and weekends, showing morning and evening rush-hour dips on weekdays"/>
          <p:cNvSpPr/>
          <p:nvPr/>
        </p:nvSpPr>
        <p:spPr>
          <a:xfrm flipH="false" flipV="false" rot="0">
            <a:off x="11144250" y="4000500"/>
            <a:ext cx="6858000" cy="2524125"/>
          </a:xfrm>
          <a:custGeom>
            <a:avLst/>
            <a:gdLst/>
            <a:ahLst/>
            <a:cxnLst/>
            <a:rect r="r" b="b" t="t" l="l"/>
            <a:pathLst>
              <a:path h="2524125" w="6858000">
                <a:moveTo>
                  <a:pt x="0" y="0"/>
                </a:moveTo>
                <a:lnTo>
                  <a:pt x="6858000" y="0"/>
                </a:lnTo>
                <a:lnTo>
                  <a:pt x="6858000" y="2524125"/>
                </a:lnTo>
                <a:lnTo>
                  <a:pt x="0" y="25241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46" t="0" r="-246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3955" y="714011"/>
            <a:ext cx="10577115" cy="2236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11"/>
              </a:lnSpc>
            </a:pPr>
            <a:r>
              <a:rPr lang="en-US" sz="8455" b="true">
                <a:solidFill>
                  <a:srgbClr val="163C59"/>
                </a:solidFill>
                <a:latin typeface="Roboto Bold"/>
                <a:ea typeface="Roboto Bold"/>
                <a:cs typeface="Roboto Bold"/>
                <a:sym typeface="Roboto Bold"/>
              </a:rPr>
              <a:t>Simple Baselines and Random Forest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3167" y="3119399"/>
            <a:ext cx="8050445" cy="532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5"/>
              </a:lnSpc>
            </a:pPr>
            <a:r>
              <a:rPr lang="en-US" sz="3111" spc="47" b="true">
                <a:solidFill>
                  <a:srgbClr val="4990AD"/>
                </a:solidFill>
                <a:latin typeface="Roboto Bold"/>
                <a:ea typeface="Roboto Bold"/>
                <a:cs typeface="Roboto Bold"/>
                <a:sym typeface="Roboto Bold"/>
              </a:rPr>
              <a:t>Starting points and the first learned model.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9683" y="4283073"/>
            <a:ext cx="6472287" cy="406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8" spc="36">
                <a:solidFill>
                  <a:srgbClr val="163C59"/>
                </a:solidFill>
                <a:latin typeface="Roboto"/>
                <a:ea typeface="Roboto"/>
                <a:cs typeface="Roboto"/>
                <a:sym typeface="Roboto"/>
              </a:rPr>
              <a:t>Persistence: speed will stay the same as now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64086" y="4711687"/>
            <a:ext cx="6540804" cy="218640"/>
          </a:xfrm>
          <a:custGeom>
            <a:avLst/>
            <a:gdLst/>
            <a:ahLst/>
            <a:cxnLst/>
            <a:rect r="r" b="b" t="t" l="l"/>
            <a:pathLst>
              <a:path h="218640" w="6540804">
                <a:moveTo>
                  <a:pt x="0" y="0"/>
                </a:moveTo>
                <a:lnTo>
                  <a:pt x="6540804" y="0"/>
                </a:lnTo>
                <a:lnTo>
                  <a:pt x="654080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09341" y="5126480"/>
            <a:ext cx="5506539" cy="81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8" spc="36">
                <a:solidFill>
                  <a:srgbClr val="163C59"/>
                </a:solidFill>
                <a:latin typeface="Roboto"/>
                <a:ea typeface="Roboto"/>
                <a:cs typeface="Roboto"/>
                <a:sym typeface="Roboto"/>
              </a:rPr>
              <a:t>Historical average: the usual speed for</a:t>
            </a:r>
          </a:p>
          <a:p>
            <a:pPr algn="l">
              <a:lnSpc>
                <a:spcPts val="3371"/>
              </a:lnSpc>
            </a:pPr>
            <a:r>
              <a:rPr lang="en-US" sz="2408" spc="36">
                <a:solidFill>
                  <a:srgbClr val="163C59"/>
                </a:solidFill>
                <a:latin typeface="Roboto"/>
                <a:ea typeface="Roboto"/>
                <a:cs typeface="Roboto"/>
                <a:sym typeface="Roboto"/>
              </a:rPr>
              <a:t>this time of the week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64086" y="5990729"/>
            <a:ext cx="6540804" cy="448211"/>
          </a:xfrm>
          <a:custGeom>
            <a:avLst/>
            <a:gdLst/>
            <a:ahLst/>
            <a:cxnLst/>
            <a:rect r="r" b="b" t="t" l="l"/>
            <a:pathLst>
              <a:path h="448211" w="6540804">
                <a:moveTo>
                  <a:pt x="0" y="0"/>
                </a:moveTo>
                <a:lnTo>
                  <a:pt x="6540804" y="0"/>
                </a:lnTo>
                <a:lnTo>
                  <a:pt x="654080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12153" y="6421713"/>
            <a:ext cx="5225292" cy="81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8" spc="36">
                <a:solidFill>
                  <a:srgbClr val="163C59"/>
                </a:solidFill>
                <a:latin typeface="Roboto"/>
                <a:ea typeface="Roboto"/>
                <a:cs typeface="Roboto"/>
                <a:sym typeface="Roboto"/>
              </a:rPr>
              <a:t>Random Forest: many decision trees</a:t>
            </a:r>
          </a:p>
          <a:p>
            <a:pPr algn="l">
              <a:lnSpc>
                <a:spcPts val="3371"/>
              </a:lnSpc>
            </a:pPr>
            <a:r>
              <a:rPr lang="en-US" sz="2408" spc="36">
                <a:solidFill>
                  <a:srgbClr val="163C59"/>
                </a:solidFill>
                <a:latin typeface="Roboto"/>
                <a:ea typeface="Roboto"/>
                <a:cs typeface="Roboto"/>
                <a:sym typeface="Roboto"/>
              </a:rPr>
              <a:t>vote on the answer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64086" y="7280704"/>
            <a:ext cx="6540804" cy="229572"/>
          </a:xfrm>
          <a:custGeom>
            <a:avLst/>
            <a:gdLst/>
            <a:ahLst/>
            <a:cxnLst/>
            <a:rect r="r" b="b" t="t" l="l"/>
            <a:pathLst>
              <a:path h="229572" w="6540804">
                <a:moveTo>
                  <a:pt x="0" y="0"/>
                </a:moveTo>
                <a:lnTo>
                  <a:pt x="6540804" y="0"/>
                </a:lnTo>
                <a:lnTo>
                  <a:pt x="654080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2408" y="7671762"/>
            <a:ext cx="5199824" cy="81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8" spc="36">
                <a:solidFill>
                  <a:srgbClr val="163C59"/>
                </a:solidFill>
                <a:latin typeface="Roboto"/>
                <a:ea typeface="Roboto"/>
                <a:cs typeface="Roboto"/>
                <a:sym typeface="Roboto"/>
              </a:rPr>
              <a:t>One forest per sensor predicts all 12</a:t>
            </a:r>
          </a:p>
          <a:p>
            <a:pPr algn="l">
              <a:lnSpc>
                <a:spcPts val="3371"/>
              </a:lnSpc>
            </a:pPr>
            <a:r>
              <a:rPr lang="en-US" sz="2408" spc="36">
                <a:solidFill>
                  <a:srgbClr val="163C59"/>
                </a:solidFill>
                <a:latin typeface="Roboto"/>
                <a:ea typeface="Roboto"/>
                <a:cs typeface="Roboto"/>
                <a:sym typeface="Roboto"/>
              </a:rPr>
              <a:t>future steps at once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64086" y="8570678"/>
            <a:ext cx="6540804" cy="218640"/>
          </a:xfrm>
          <a:custGeom>
            <a:avLst/>
            <a:gdLst/>
            <a:ahLst/>
            <a:cxnLst/>
            <a:rect r="r" b="b" t="t" l="l"/>
            <a:pathLst>
              <a:path h="218640" w="6540804">
                <a:moveTo>
                  <a:pt x="0" y="0"/>
                </a:moveTo>
                <a:lnTo>
                  <a:pt x="6540804" y="0"/>
                </a:lnTo>
                <a:lnTo>
                  <a:pt x="654080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13250" y="8906751"/>
            <a:ext cx="5115631" cy="406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8" spc="36">
                <a:solidFill>
                  <a:srgbClr val="163C59"/>
                </a:solidFill>
                <a:latin typeface="Roboto"/>
                <a:ea typeface="Roboto"/>
                <a:cs typeface="Roboto"/>
                <a:sym typeface="Roboto"/>
              </a:rPr>
              <a:t>Makes the fewest very big mistakes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925244" y="3848060"/>
            <a:ext cx="9362756" cy="5367606"/>
          </a:xfrm>
          <a:custGeom>
            <a:avLst/>
            <a:gdLst/>
            <a:ahLst/>
            <a:cxnLst/>
            <a:rect r="r" b="b" t="t" l="l"/>
            <a:pathLst>
              <a:path h="5367606" w="9362756">
                <a:moveTo>
                  <a:pt x="0" y="0"/>
                </a:moveTo>
                <a:lnTo>
                  <a:pt x="9362756" y="0"/>
                </a:lnTo>
                <a:lnTo>
                  <a:pt x="9362756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45598" y="0"/>
            <a:ext cx="7842402" cy="10287000"/>
          </a:xfrm>
          <a:custGeom>
            <a:avLst/>
            <a:gdLst/>
            <a:ahLst/>
            <a:cxnLst/>
            <a:rect r="r" b="b" t="t" l="l"/>
            <a:pathLst>
              <a:path h="10287000" w="7842402">
                <a:moveTo>
                  <a:pt x="0" y="0"/>
                </a:moveTo>
                <a:lnTo>
                  <a:pt x="7842402" y="0"/>
                </a:lnTo>
                <a:lnTo>
                  <a:pt x="78424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5343" y="741533"/>
            <a:ext cx="8796217" cy="179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1"/>
              </a:lnSpc>
            </a:pPr>
            <a:r>
              <a:rPr lang="en-US" sz="6574" b="true">
                <a:solidFill>
                  <a:srgbClr val="08375D"/>
                </a:solidFill>
                <a:latin typeface="Roboto Bold"/>
                <a:ea typeface="Roboto Bold"/>
                <a:cs typeface="Roboto Bold"/>
                <a:sym typeface="Roboto Bold"/>
              </a:rPr>
              <a:t>XGBoost and</a:t>
            </a:r>
          </a:p>
          <a:p>
            <a:pPr algn="l">
              <a:lnSpc>
                <a:spcPts val="6901"/>
              </a:lnSpc>
            </a:pPr>
            <a:r>
              <a:rPr lang="en-US" sz="6574" b="true">
                <a:solidFill>
                  <a:srgbClr val="08375D"/>
                </a:solidFill>
                <a:latin typeface="Roboto Bold"/>
                <a:ea typeface="Roboto Bold"/>
                <a:cs typeface="Roboto Bold"/>
                <a:sym typeface="Roboto Bold"/>
              </a:rPr>
              <a:t>How We Measure Error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2776725"/>
            <a:ext cx="885962" cy="229572"/>
          </a:xfrm>
          <a:custGeom>
            <a:avLst/>
            <a:gdLst/>
            <a:ahLst/>
            <a:cxnLst/>
            <a:rect r="r" b="b" t="t" l="l"/>
            <a:pathLst>
              <a:path h="229572" w="885962">
                <a:moveTo>
                  <a:pt x="0" y="0"/>
                </a:moveTo>
                <a:lnTo>
                  <a:pt x="885962" y="0"/>
                </a:lnTo>
                <a:lnTo>
                  <a:pt x="88596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1945" y="3282007"/>
            <a:ext cx="5135960" cy="732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436" spc="48">
                <a:solidFill>
                  <a:srgbClr val="08375D"/>
                </a:solidFill>
                <a:latin typeface="Roboto"/>
                <a:ea typeface="Roboto"/>
                <a:cs typeface="Roboto"/>
                <a:sym typeface="Roboto"/>
              </a:rPr>
              <a:t>Trees built one after another,</a:t>
            </a:r>
          </a:p>
          <a:p>
            <a:pPr algn="l">
              <a:lnSpc>
                <a:spcPts val="2924"/>
              </a:lnSpc>
            </a:pPr>
            <a:r>
              <a:rPr lang="en-US" sz="2436" spc="48">
                <a:solidFill>
                  <a:srgbClr val="08375D"/>
                </a:solidFill>
                <a:latin typeface="Roboto"/>
                <a:ea typeface="Roboto"/>
                <a:cs typeface="Roboto"/>
                <a:sym typeface="Roboto"/>
              </a:rPr>
              <a:t>each fixing the last one's mistakes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0695" y="4215779"/>
            <a:ext cx="3261016" cy="732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436" spc="48">
                <a:solidFill>
                  <a:srgbClr val="08375D"/>
                </a:solidFill>
                <a:latin typeface="Roboto"/>
                <a:ea typeface="Roboto"/>
                <a:cs typeface="Roboto"/>
                <a:sym typeface="Roboto"/>
              </a:rPr>
              <a:t>One model per sensor and per future step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1511" y="5149551"/>
            <a:ext cx="5179379" cy="732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436" spc="48">
                <a:solidFill>
                  <a:srgbClr val="08375D"/>
                </a:solidFill>
                <a:latin typeface="Roboto"/>
                <a:ea typeface="Roboto"/>
                <a:cs typeface="Roboto"/>
                <a:sym typeface="Roboto"/>
              </a:rPr>
              <a:t>Settings chosen on the tuning data only, never the test data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5330" y="5990729"/>
            <a:ext cx="9373694" cy="3017228"/>
          </a:xfrm>
          <a:custGeom>
            <a:avLst/>
            <a:gdLst/>
            <a:ahLst/>
            <a:cxnLst/>
            <a:rect r="r" b="b" t="t" l="l"/>
            <a:pathLst>
              <a:path h="3017228" w="9373694">
                <a:moveTo>
                  <a:pt x="0" y="0"/>
                </a:moveTo>
                <a:lnTo>
                  <a:pt x="9373694" y="0"/>
                </a:lnTo>
                <a:lnTo>
                  <a:pt x="9373694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86668" y="6490803"/>
            <a:ext cx="1168343" cy="577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4"/>
              </a:lnSpc>
            </a:pPr>
            <a:r>
              <a:rPr lang="en-US" sz="4271" b="true">
                <a:solidFill>
                  <a:srgbClr val="4098B8"/>
                </a:solidFill>
                <a:latin typeface="Roboto Bold"/>
                <a:ea typeface="Roboto Bold"/>
                <a:cs typeface="Roboto Bold"/>
                <a:sym typeface="Roboto Bold"/>
              </a:rPr>
              <a:t>MAE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821952" y="6209369"/>
            <a:ext cx="229694" cy="863627"/>
          </a:xfrm>
          <a:custGeom>
            <a:avLst/>
            <a:gdLst/>
            <a:ahLst/>
            <a:cxnLst/>
            <a:rect r="r" b="b" t="t" l="l"/>
            <a:pathLst>
              <a:path h="863627" w="229694">
                <a:moveTo>
                  <a:pt x="0" y="0"/>
                </a:moveTo>
                <a:lnTo>
                  <a:pt x="229694" y="0"/>
                </a:lnTo>
                <a:lnTo>
                  <a:pt x="229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83438" y="7289027"/>
            <a:ext cx="1491398" cy="577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4"/>
              </a:lnSpc>
            </a:pPr>
            <a:r>
              <a:rPr lang="en-US" sz="4271" b="true">
                <a:solidFill>
                  <a:srgbClr val="4098B8"/>
                </a:solidFill>
                <a:latin typeface="Roboto Bold"/>
                <a:ea typeface="Roboto Bold"/>
                <a:cs typeface="Roboto Bold"/>
                <a:sym typeface="Roboto Bold"/>
              </a:rPr>
              <a:t>RMSE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821952" y="7062064"/>
            <a:ext cx="229694" cy="874559"/>
          </a:xfrm>
          <a:custGeom>
            <a:avLst/>
            <a:gdLst/>
            <a:ahLst/>
            <a:cxnLst/>
            <a:rect r="r" b="b" t="t" l="l"/>
            <a:pathLst>
              <a:path h="874559" w="229694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83092" y="8102313"/>
            <a:ext cx="1525944" cy="577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4"/>
              </a:lnSpc>
            </a:pPr>
            <a:r>
              <a:rPr lang="en-US" sz="4271" b="true">
                <a:solidFill>
                  <a:srgbClr val="4098B8"/>
                </a:solidFill>
                <a:latin typeface="Roboto Bold"/>
                <a:ea typeface="Roboto Bold"/>
                <a:cs typeface="Roboto Bold"/>
                <a:sym typeface="Roboto Bold"/>
              </a:rPr>
              <a:t>MAPE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821952" y="7925691"/>
            <a:ext cx="229694" cy="863627"/>
          </a:xfrm>
          <a:custGeom>
            <a:avLst/>
            <a:gdLst/>
            <a:ahLst/>
            <a:cxnLst/>
            <a:rect r="r" b="b" t="t" l="l"/>
            <a:pathLst>
              <a:path h="863627" w="229694">
                <a:moveTo>
                  <a:pt x="0" y="0"/>
                </a:moveTo>
                <a:lnTo>
                  <a:pt x="229694" y="0"/>
                </a:lnTo>
                <a:lnTo>
                  <a:pt x="229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35141" y="9140674"/>
            <a:ext cx="8816383" cy="35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337">
                <a:solidFill>
                  <a:srgbClr val="08375D"/>
                </a:solidFill>
                <a:latin typeface="Roboto"/>
                <a:ea typeface="Roboto"/>
                <a:cs typeface="Roboto"/>
                <a:sym typeface="Roboto"/>
              </a:rPr>
              <a:t>Lower error is better; these are </a:t>
            </a:r>
            <a:r>
              <a:rPr lang="en-US" sz="2337" b="true">
                <a:solidFill>
                  <a:srgbClr val="4098B8"/>
                </a:solidFill>
                <a:latin typeface="Roboto Bold"/>
                <a:ea typeface="Roboto Bold"/>
                <a:cs typeface="Roboto Bold"/>
                <a:sym typeface="Roboto Bold"/>
              </a:rPr>
              <a:t>errors</a:t>
            </a:r>
            <a:r>
              <a:rPr lang="en-US" sz="2337">
                <a:solidFill>
                  <a:srgbClr val="08375D"/>
                </a:solidFill>
                <a:latin typeface="Roboto"/>
                <a:ea typeface="Roboto"/>
                <a:cs typeface="Roboto"/>
                <a:sym typeface="Roboto"/>
              </a:rPr>
              <a:t>, not accuracy percentages.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48633" y="7367149"/>
            <a:ext cx="5893594" cy="35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8375D"/>
                </a:solidFill>
                <a:latin typeface="Roboto"/>
                <a:ea typeface="Roboto"/>
                <a:cs typeface="Roboto"/>
                <a:sym typeface="Roboto"/>
              </a:rPr>
              <a:t>Punishes big misses more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48633" y="8180435"/>
            <a:ext cx="5893594" cy="35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8375D"/>
                </a:solidFill>
                <a:latin typeface="Roboto"/>
                <a:ea typeface="Roboto"/>
                <a:cs typeface="Roboto"/>
                <a:sym typeface="Roboto"/>
              </a:rPr>
              <a:t>Error as a percentage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48633" y="6538803"/>
            <a:ext cx="5893594" cy="35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8375D"/>
                </a:solidFill>
                <a:latin typeface="Roboto"/>
                <a:ea typeface="Roboto"/>
                <a:cs typeface="Roboto"/>
                <a:sym typeface="Roboto"/>
              </a:rPr>
              <a:t>Average error in mph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83110" y="0"/>
            <a:ext cx="7404890" cy="10287000"/>
          </a:xfrm>
          <a:custGeom>
            <a:avLst/>
            <a:gdLst/>
            <a:ahLst/>
            <a:cxnLst/>
            <a:rect r="r" b="b" t="t" l="l"/>
            <a:pathLst>
              <a:path h="10287000" w="7404890">
                <a:moveTo>
                  <a:pt x="0" y="0"/>
                </a:moveTo>
                <a:lnTo>
                  <a:pt x="7404890" y="0"/>
                </a:lnTo>
                <a:lnTo>
                  <a:pt x="740489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16113" y="632740"/>
            <a:ext cx="4113696" cy="1252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27"/>
              </a:lnSpc>
            </a:pPr>
            <a:r>
              <a:rPr lang="en-US" sz="9327" b="true">
                <a:solidFill>
                  <a:srgbClr val="083252"/>
                </a:solidFill>
                <a:latin typeface="Roboto Bold"/>
                <a:ea typeface="Roboto Bold"/>
                <a:cs typeface="Roboto Bold"/>
                <a:sym typeface="Roboto Bold"/>
              </a:rPr>
              <a:t>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4769" y="1953881"/>
            <a:ext cx="5605897" cy="32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5"/>
              </a:lnSpc>
            </a:pPr>
            <a:r>
              <a:rPr lang="en-US" sz="2505" b="true">
                <a:solidFill>
                  <a:srgbClr val="194B6B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Test-period average error (MAE, mph)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64086" y="2350377"/>
            <a:ext cx="2843828" cy="655919"/>
          </a:xfrm>
          <a:custGeom>
            <a:avLst/>
            <a:gdLst/>
            <a:ahLst/>
            <a:cxnLst/>
            <a:rect r="r" b="b" t="t" l="l"/>
            <a:pathLst>
              <a:path h="655919" w="2843828">
                <a:moveTo>
                  <a:pt x="0" y="0"/>
                </a:moveTo>
                <a:lnTo>
                  <a:pt x="2843828" y="0"/>
                </a:lnTo>
                <a:lnTo>
                  <a:pt x="284382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78220" y="2350377"/>
            <a:ext cx="3062584" cy="655919"/>
          </a:xfrm>
          <a:custGeom>
            <a:avLst/>
            <a:gdLst/>
            <a:ahLst/>
            <a:cxnLst/>
            <a:rect r="r" b="b" t="t" l="l"/>
            <a:pathLst>
              <a:path h="655919" w="3062584">
                <a:moveTo>
                  <a:pt x="0" y="0"/>
                </a:moveTo>
                <a:lnTo>
                  <a:pt x="3062584" y="0"/>
                </a:lnTo>
                <a:lnTo>
                  <a:pt x="306258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11110" y="2350377"/>
            <a:ext cx="2832890" cy="655919"/>
          </a:xfrm>
          <a:custGeom>
            <a:avLst/>
            <a:gdLst/>
            <a:ahLst/>
            <a:cxnLst/>
            <a:rect r="r" b="b" t="t" l="l"/>
            <a:pathLst>
              <a:path h="655919" w="2832890">
                <a:moveTo>
                  <a:pt x="0" y="0"/>
                </a:moveTo>
                <a:lnTo>
                  <a:pt x="2832890" y="0"/>
                </a:lnTo>
                <a:lnTo>
                  <a:pt x="283289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925244" y="2350377"/>
            <a:ext cx="2832890" cy="655919"/>
          </a:xfrm>
          <a:custGeom>
            <a:avLst/>
            <a:gdLst/>
            <a:ahLst/>
            <a:cxnLst/>
            <a:rect r="r" b="b" t="t" l="l"/>
            <a:pathLst>
              <a:path h="655919" w="2832890">
                <a:moveTo>
                  <a:pt x="0" y="0"/>
                </a:moveTo>
                <a:lnTo>
                  <a:pt x="2832890" y="0"/>
                </a:lnTo>
                <a:lnTo>
                  <a:pt x="283289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862546" y="2597419"/>
            <a:ext cx="2186843" cy="24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9"/>
              </a:lnSpc>
            </a:pPr>
            <a:r>
              <a:rPr lang="en-US" sz="1809" b="true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15 MINUTES AHEAD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03622" y="2597419"/>
            <a:ext cx="2186843" cy="24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9"/>
              </a:lnSpc>
            </a:pPr>
            <a:r>
              <a:rPr lang="en-US" b="true" sz="1809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30 MINUTES AHEAD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73936" y="2597419"/>
            <a:ext cx="2186843" cy="24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9"/>
              </a:lnSpc>
            </a:pPr>
            <a:r>
              <a:rPr lang="en-US" sz="1809" b="true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60 MINUTES AHEAD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226" y="3164266"/>
            <a:ext cx="1654701" cy="31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2366" b="true">
                <a:solidFill>
                  <a:srgbClr val="083252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Persistence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70781" y="3164266"/>
            <a:ext cx="622875" cy="31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6"/>
              </a:lnSpc>
            </a:pPr>
            <a:r>
              <a:rPr lang="en-US" sz="2366" b="true">
                <a:solidFill>
                  <a:srgbClr val="083252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4.17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64086" y="3421712"/>
            <a:ext cx="10894048" cy="229572"/>
          </a:xfrm>
          <a:custGeom>
            <a:avLst/>
            <a:gdLst/>
            <a:ahLst/>
            <a:cxnLst/>
            <a:rect r="r" b="b" t="t" l="l"/>
            <a:pathLst>
              <a:path h="229572" w="10894048">
                <a:moveTo>
                  <a:pt x="0" y="0"/>
                </a:moveTo>
                <a:lnTo>
                  <a:pt x="10894048" y="0"/>
                </a:lnTo>
                <a:lnTo>
                  <a:pt x="10894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19431" y="3872126"/>
            <a:ext cx="2534284" cy="31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2366" b="true">
                <a:solidFill>
                  <a:srgbClr val="083252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Historical average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38296" y="3872126"/>
            <a:ext cx="622875" cy="31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6"/>
              </a:lnSpc>
            </a:pPr>
            <a:r>
              <a:rPr lang="en-US" sz="2366" b="true">
                <a:solidFill>
                  <a:srgbClr val="083252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4.19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70781" y="3872126"/>
            <a:ext cx="622875" cy="31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6"/>
              </a:lnSpc>
            </a:pPr>
            <a:r>
              <a:rPr lang="en-US" sz="2366" b="true">
                <a:solidFill>
                  <a:srgbClr val="083252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4.19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49687" y="3872126"/>
            <a:ext cx="622875" cy="31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6"/>
              </a:lnSpc>
            </a:pPr>
            <a:r>
              <a:rPr lang="en-US" sz="2366" b="true">
                <a:solidFill>
                  <a:srgbClr val="083252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4.19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64086" y="4285339"/>
            <a:ext cx="10894048" cy="218640"/>
          </a:xfrm>
          <a:custGeom>
            <a:avLst/>
            <a:gdLst/>
            <a:ahLst/>
            <a:cxnLst/>
            <a:rect r="r" b="b" t="t" l="l"/>
            <a:pathLst>
              <a:path h="218640" w="10894048">
                <a:moveTo>
                  <a:pt x="0" y="0"/>
                </a:moveTo>
                <a:lnTo>
                  <a:pt x="10894048" y="0"/>
                </a:lnTo>
                <a:lnTo>
                  <a:pt x="1089404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3568" y="4610107"/>
            <a:ext cx="2120496" cy="31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2366" b="true">
                <a:solidFill>
                  <a:srgbClr val="083252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Random Forest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638296" y="4610107"/>
            <a:ext cx="622875" cy="31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6"/>
              </a:lnSpc>
            </a:pPr>
            <a:r>
              <a:rPr lang="en-US" sz="2366" b="true">
                <a:solidFill>
                  <a:srgbClr val="083252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2.97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70781" y="4610107"/>
            <a:ext cx="622875" cy="31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6"/>
              </a:lnSpc>
            </a:pPr>
            <a:r>
              <a:rPr lang="en-US" sz="2366" b="true">
                <a:solidFill>
                  <a:srgbClr val="083252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3.42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49687" y="4610107"/>
            <a:ext cx="622875" cy="31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6"/>
              </a:lnSpc>
            </a:pPr>
            <a:r>
              <a:rPr lang="en-US" sz="2366" b="true">
                <a:solidFill>
                  <a:srgbClr val="083252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3.90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864086" y="4919394"/>
            <a:ext cx="10894048" cy="229572"/>
          </a:xfrm>
          <a:custGeom>
            <a:avLst/>
            <a:gdLst/>
            <a:ahLst/>
            <a:cxnLst/>
            <a:rect r="r" b="b" t="t" l="l"/>
            <a:pathLst>
              <a:path h="229572" w="10894048">
                <a:moveTo>
                  <a:pt x="0" y="0"/>
                </a:moveTo>
                <a:lnTo>
                  <a:pt x="10894048" y="0"/>
                </a:lnTo>
                <a:lnTo>
                  <a:pt x="10894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4561836" y="5276862"/>
            <a:ext cx="806181" cy="404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2"/>
              </a:lnSpc>
            </a:pPr>
            <a:r>
              <a:rPr lang="en-US" sz="3062" b="true">
                <a:solidFill>
                  <a:srgbClr val="1F799B"/>
                </a:solidFill>
                <a:latin typeface="Roboto Bold"/>
                <a:ea typeface="Roboto Bold"/>
                <a:cs typeface="Roboto Bold"/>
                <a:sym typeface="Roboto Bold"/>
              </a:rPr>
              <a:t>2.92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294321" y="5276862"/>
            <a:ext cx="806181" cy="404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2"/>
              </a:lnSpc>
            </a:pPr>
            <a:r>
              <a:rPr lang="en-US" sz="3062" b="true">
                <a:solidFill>
                  <a:srgbClr val="1F799B"/>
                </a:solidFill>
                <a:latin typeface="Roboto Bold"/>
                <a:ea typeface="Roboto Bold"/>
                <a:cs typeface="Roboto Bold"/>
                <a:sym typeface="Roboto Bold"/>
              </a:rPr>
              <a:t>3.38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73227" y="5276862"/>
            <a:ext cx="806181" cy="404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2"/>
              </a:lnSpc>
            </a:pPr>
            <a:r>
              <a:rPr lang="en-US" sz="3062" b="true">
                <a:solidFill>
                  <a:srgbClr val="1F799B"/>
                </a:solidFill>
                <a:latin typeface="Roboto Bold"/>
                <a:ea typeface="Roboto Bold"/>
                <a:cs typeface="Roboto Bold"/>
                <a:sym typeface="Roboto Bold"/>
              </a:rPr>
              <a:t>3.87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864086" y="5783021"/>
            <a:ext cx="10894048" cy="218640"/>
          </a:xfrm>
          <a:custGeom>
            <a:avLst/>
            <a:gdLst/>
            <a:ahLst/>
            <a:cxnLst/>
            <a:rect r="r" b="b" t="t" l="l"/>
            <a:pathLst>
              <a:path h="218640" w="10894048">
                <a:moveTo>
                  <a:pt x="0" y="0"/>
                </a:moveTo>
                <a:lnTo>
                  <a:pt x="10894048" y="0"/>
                </a:lnTo>
                <a:lnTo>
                  <a:pt x="1089404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64086" y="5990729"/>
            <a:ext cx="10675292" cy="3662216"/>
          </a:xfrm>
          <a:custGeom>
            <a:avLst/>
            <a:gdLst/>
            <a:ahLst/>
            <a:cxnLst/>
            <a:rect r="r" b="b" t="t" l="l"/>
            <a:pathLst>
              <a:path h="3662216" w="10675292">
                <a:moveTo>
                  <a:pt x="0" y="0"/>
                </a:moveTo>
                <a:lnTo>
                  <a:pt x="10675292" y="0"/>
                </a:lnTo>
                <a:lnTo>
                  <a:pt x="10675292" y="3662216"/>
                </a:lnTo>
                <a:lnTo>
                  <a:pt x="0" y="366221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224762" y="6276365"/>
            <a:ext cx="6111289" cy="992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4"/>
              </a:lnSpc>
            </a:pPr>
            <a:r>
              <a:rPr lang="en-US" sz="2888" spc="28" b="true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XGBoost is best on average error,</a:t>
            </a:r>
          </a:p>
          <a:p>
            <a:pPr algn="l">
              <a:lnSpc>
                <a:spcPts val="4044"/>
              </a:lnSpc>
            </a:pPr>
            <a:r>
              <a:rPr lang="en-US" sz="2888" spc="28" b="true">
                <a:solidFill>
                  <a:srgbClr val="4C9CB6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16%</a:t>
            </a:r>
            <a:r>
              <a:rPr lang="en-US" sz="2888" spc="28" b="true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 to </a:t>
            </a:r>
            <a:r>
              <a:rPr lang="en-US" sz="2888" spc="28" b="true">
                <a:solidFill>
                  <a:srgbClr val="4C9CB6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27%</a:t>
            </a:r>
            <a:r>
              <a:rPr lang="en-US" sz="2888" spc="28" b="true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 better than persistence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02447" y="7517101"/>
            <a:ext cx="8342757" cy="51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8"/>
              </a:lnSpc>
            </a:pPr>
            <a:r>
              <a:rPr lang="en-US" sz="3005" spc="29" b="true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Random Forest has the fewest very big misses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98323" y="8264397"/>
            <a:ext cx="8755239" cy="992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4"/>
              </a:lnSpc>
            </a:pPr>
            <a:r>
              <a:rPr lang="en-US" sz="2888" spc="28" b="true">
                <a:solidFill>
                  <a:srgbClr val="FFFFFF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Both learned models beat both simple baselines at every horizon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32582" y="5317967"/>
            <a:ext cx="1219142" cy="31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2366" b="true">
                <a:solidFill>
                  <a:srgbClr val="1F799B"/>
                </a:solidFill>
                <a:latin typeface="Roboto Bold"/>
                <a:ea typeface="Roboto Bold"/>
                <a:cs typeface="Roboto Bold"/>
                <a:sym typeface="Roboto Bold"/>
              </a:rPr>
              <a:t>XGBoost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638296" y="3164266"/>
            <a:ext cx="622875" cy="31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6"/>
              </a:lnSpc>
            </a:pPr>
            <a:r>
              <a:rPr lang="en-US" sz="2366" b="true">
                <a:solidFill>
                  <a:srgbClr val="083252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3.48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049687" y="3164266"/>
            <a:ext cx="622875" cy="31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6"/>
              </a:lnSpc>
            </a:pPr>
            <a:r>
              <a:rPr lang="en-US" sz="2366" b="true">
                <a:solidFill>
                  <a:srgbClr val="083252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5.32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7141" y="869563"/>
            <a:ext cx="7616398" cy="20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74"/>
              </a:lnSpc>
            </a:pPr>
            <a:r>
              <a:rPr lang="en-US" sz="8074" b="true">
                <a:solidFill>
                  <a:srgbClr val="052542"/>
                </a:solidFill>
                <a:latin typeface="Roboto Bold"/>
                <a:ea typeface="Roboto Bold"/>
                <a:cs typeface="Roboto Bold"/>
                <a:sym typeface="Roboto Bold"/>
              </a:rPr>
              <a:t>Where the Models Still Fail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995365"/>
            <a:ext cx="2187560" cy="229572"/>
          </a:xfrm>
          <a:custGeom>
            <a:avLst/>
            <a:gdLst/>
            <a:ahLst/>
            <a:cxnLst/>
            <a:rect r="r" b="b" t="t" l="l"/>
            <a:pathLst>
              <a:path h="229572" w="2187560">
                <a:moveTo>
                  <a:pt x="0" y="0"/>
                </a:moveTo>
                <a:lnTo>
                  <a:pt x="2187560" y="0"/>
                </a:lnTo>
                <a:lnTo>
                  <a:pt x="218756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5330" y="3640352"/>
            <a:ext cx="448450" cy="1082267"/>
          </a:xfrm>
          <a:custGeom>
            <a:avLst/>
            <a:gdLst/>
            <a:ahLst/>
            <a:cxnLst/>
            <a:rect r="r" b="b" t="t" l="l"/>
            <a:pathLst>
              <a:path h="1082267" w="448450">
                <a:moveTo>
                  <a:pt x="0" y="0"/>
                </a:moveTo>
                <a:lnTo>
                  <a:pt x="448450" y="0"/>
                </a:lnTo>
                <a:lnTo>
                  <a:pt x="44845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95560" y="3643467"/>
            <a:ext cx="4389326" cy="840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784">
                <a:solidFill>
                  <a:srgbClr val="052542"/>
                </a:solidFill>
                <a:latin typeface="Roboto"/>
                <a:ea typeface="Roboto"/>
                <a:cs typeface="Roboto"/>
                <a:sym typeface="Roboto"/>
              </a:rPr>
              <a:t>Rush-hour errors are about </a:t>
            </a:r>
            <a:r>
              <a:rPr lang="en-US" sz="2784" b="true">
                <a:solidFill>
                  <a:srgbClr val="187498"/>
                </a:solidFill>
                <a:latin typeface="Roboto Bold"/>
                <a:ea typeface="Roboto Bold"/>
                <a:cs typeface="Roboto Bold"/>
                <a:sym typeface="Roboto Bold"/>
              </a:rPr>
              <a:t>twice</a:t>
            </a:r>
            <a:r>
              <a:rPr lang="en-US" sz="2784">
                <a:solidFill>
                  <a:srgbClr val="052542"/>
                </a:solidFill>
                <a:latin typeface="Roboto"/>
                <a:ea typeface="Roboto"/>
                <a:cs typeface="Roboto"/>
                <a:sym typeface="Roboto"/>
              </a:rPr>
              <a:t> the normal errors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4493047"/>
            <a:ext cx="6540804" cy="229572"/>
          </a:xfrm>
          <a:custGeom>
            <a:avLst/>
            <a:gdLst/>
            <a:ahLst/>
            <a:cxnLst/>
            <a:rect r="r" b="b" t="t" l="l"/>
            <a:pathLst>
              <a:path h="229572" w="6540804">
                <a:moveTo>
                  <a:pt x="0" y="0"/>
                </a:moveTo>
                <a:lnTo>
                  <a:pt x="6540804" y="0"/>
                </a:lnTo>
                <a:lnTo>
                  <a:pt x="654080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5330" y="4711687"/>
            <a:ext cx="448450" cy="1727254"/>
          </a:xfrm>
          <a:custGeom>
            <a:avLst/>
            <a:gdLst/>
            <a:ahLst/>
            <a:cxnLst/>
            <a:rect r="r" b="b" t="t" l="l"/>
            <a:pathLst>
              <a:path h="1727254" w="448450">
                <a:moveTo>
                  <a:pt x="0" y="0"/>
                </a:moveTo>
                <a:lnTo>
                  <a:pt x="448450" y="0"/>
                </a:lnTo>
                <a:lnTo>
                  <a:pt x="448450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89256" y="4908578"/>
            <a:ext cx="5019727" cy="1250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784">
                <a:solidFill>
                  <a:srgbClr val="052542"/>
                </a:solidFill>
                <a:latin typeface="Roboto"/>
                <a:ea typeface="Roboto"/>
                <a:cs typeface="Roboto"/>
                <a:sym typeface="Roboto"/>
              </a:rPr>
              <a:t>At 60 minutes in rush hour, </a:t>
            </a:r>
          </a:p>
          <a:p>
            <a:pPr algn="l">
              <a:lnSpc>
                <a:spcPts val="3341"/>
              </a:lnSpc>
            </a:pPr>
            <a:r>
              <a:rPr lang="en-US" sz="2784" b="true">
                <a:solidFill>
                  <a:srgbClr val="187498"/>
                </a:solidFill>
                <a:latin typeface="Roboto Bold"/>
                <a:ea typeface="Roboto Bold"/>
                <a:cs typeface="Roboto Bold"/>
                <a:sym typeface="Roboto Bold"/>
              </a:rPr>
              <a:t>Random Forest</a:t>
            </a:r>
            <a:r>
              <a:rPr lang="en-US" sz="2784">
                <a:solidFill>
                  <a:srgbClr val="052542"/>
                </a:solidFill>
                <a:latin typeface="Roboto"/>
                <a:ea typeface="Roboto"/>
                <a:cs typeface="Roboto"/>
                <a:sym typeface="Roboto"/>
              </a:rPr>
              <a:t> beats XGBoost (5.95 vs 6.31 mph)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5330" y="6209369"/>
            <a:ext cx="6540804" cy="437279"/>
          </a:xfrm>
          <a:custGeom>
            <a:avLst/>
            <a:gdLst/>
            <a:ahLst/>
            <a:cxnLst/>
            <a:rect r="r" b="b" t="t" l="l"/>
            <a:pathLst>
              <a:path h="437279" w="6540804">
                <a:moveTo>
                  <a:pt x="0" y="0"/>
                </a:moveTo>
                <a:lnTo>
                  <a:pt x="6540804" y="0"/>
                </a:lnTo>
                <a:lnTo>
                  <a:pt x="654080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45330" y="6428009"/>
            <a:ext cx="448450" cy="1289974"/>
          </a:xfrm>
          <a:custGeom>
            <a:avLst/>
            <a:gdLst/>
            <a:ahLst/>
            <a:cxnLst/>
            <a:rect r="r" b="b" t="t" l="l"/>
            <a:pathLst>
              <a:path h="1289974" w="448450">
                <a:moveTo>
                  <a:pt x="0" y="0"/>
                </a:moveTo>
                <a:lnTo>
                  <a:pt x="448450" y="0"/>
                </a:lnTo>
                <a:lnTo>
                  <a:pt x="44845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89398" y="6655635"/>
            <a:ext cx="5005496" cy="840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784">
                <a:solidFill>
                  <a:srgbClr val="052542"/>
                </a:solidFill>
                <a:latin typeface="Roboto"/>
                <a:ea typeface="Roboto"/>
                <a:cs typeface="Roboto"/>
                <a:sym typeface="Roboto"/>
              </a:rPr>
              <a:t>The biggest errors </a:t>
            </a:r>
          </a:p>
          <a:p>
            <a:pPr algn="l">
              <a:lnSpc>
                <a:spcPts val="3341"/>
              </a:lnSpc>
            </a:pPr>
            <a:r>
              <a:rPr lang="en-US" sz="2784">
                <a:solidFill>
                  <a:srgbClr val="052542"/>
                </a:solidFill>
                <a:latin typeface="Roboto"/>
                <a:ea typeface="Roboto"/>
                <a:cs typeface="Roboto"/>
                <a:sym typeface="Roboto"/>
              </a:rPr>
              <a:t>sit </a:t>
            </a:r>
            <a:r>
              <a:rPr lang="en-US" sz="2784" b="true">
                <a:solidFill>
                  <a:srgbClr val="187498"/>
                </a:solidFill>
                <a:latin typeface="Roboto Bold"/>
                <a:ea typeface="Roboto Bold"/>
                <a:cs typeface="Roboto Bold"/>
                <a:sym typeface="Roboto Bold"/>
              </a:rPr>
              <a:t>together</a:t>
            </a:r>
            <a:r>
              <a:rPr lang="en-US" sz="2784">
                <a:solidFill>
                  <a:srgbClr val="052542"/>
                </a:solidFill>
                <a:latin typeface="Roboto"/>
                <a:ea typeface="Roboto"/>
                <a:cs typeface="Roboto"/>
                <a:sym typeface="Roboto"/>
              </a:rPr>
              <a:t> on the same roads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5330" y="7499343"/>
            <a:ext cx="6540804" cy="437279"/>
          </a:xfrm>
          <a:custGeom>
            <a:avLst/>
            <a:gdLst/>
            <a:ahLst/>
            <a:cxnLst/>
            <a:rect r="r" b="b" t="t" l="l"/>
            <a:pathLst>
              <a:path h="437279" w="6540804">
                <a:moveTo>
                  <a:pt x="0" y="0"/>
                </a:moveTo>
                <a:lnTo>
                  <a:pt x="6540804" y="0"/>
                </a:lnTo>
                <a:lnTo>
                  <a:pt x="654080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5330" y="7707051"/>
            <a:ext cx="448450" cy="1508614"/>
          </a:xfrm>
          <a:custGeom>
            <a:avLst/>
            <a:gdLst/>
            <a:ahLst/>
            <a:cxnLst/>
            <a:rect r="r" b="b" t="t" l="l"/>
            <a:pathLst>
              <a:path h="1508614" w="448450">
                <a:moveTo>
                  <a:pt x="0" y="0"/>
                </a:moveTo>
                <a:lnTo>
                  <a:pt x="448450" y="0"/>
                </a:lnTo>
                <a:lnTo>
                  <a:pt x="44845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94647" y="7935807"/>
            <a:ext cx="4480577" cy="1250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784">
                <a:solidFill>
                  <a:srgbClr val="052542"/>
                </a:solidFill>
                <a:latin typeface="Roboto"/>
                <a:ea typeface="Roboto"/>
                <a:cs typeface="Roboto"/>
                <a:sym typeface="Roboto"/>
              </a:rPr>
              <a:t>A sensor's own past </a:t>
            </a:r>
            <a:r>
              <a:rPr lang="en-US" sz="2784" b="true">
                <a:solidFill>
                  <a:srgbClr val="187498"/>
                </a:solidFill>
                <a:latin typeface="Roboto Bold"/>
                <a:ea typeface="Roboto Bold"/>
                <a:cs typeface="Roboto Bold"/>
                <a:sym typeface="Roboto Bold"/>
              </a:rPr>
              <a:t>cannot</a:t>
            </a:r>
            <a:r>
              <a:rPr lang="en-US" sz="2784">
                <a:solidFill>
                  <a:srgbClr val="052542"/>
                </a:solidFill>
                <a:latin typeface="Roboto"/>
                <a:ea typeface="Roboto"/>
                <a:cs typeface="Roboto"/>
                <a:sym typeface="Roboto"/>
              </a:rPr>
              <a:t> warn it about a jam starting on a nearby road</a:t>
            </a:r>
          </a:p>
        </p:txBody>
      </p:sp>
      <p:sp>
        <p:nvSpPr>
          <p:cNvPr name="Freeform 16" id="16" descr="Map of XGBoost 60-minute forecast error per sensor; the worst sensors cluster along the same corridor"/>
          <p:cNvSpPr/>
          <p:nvPr/>
        </p:nvSpPr>
        <p:spPr>
          <a:xfrm flipH="false" flipV="false" rot="0">
            <a:off x="8572500" y="3143250"/>
            <a:ext cx="9334500" cy="6552101"/>
          </a:xfrm>
          <a:custGeom>
            <a:avLst/>
            <a:gdLst/>
            <a:ahLst/>
            <a:cxnLst/>
            <a:rect r="r" b="b" t="t" l="l"/>
            <a:pathLst>
              <a:path h="6552101" w="9334500">
                <a:moveTo>
                  <a:pt x="0" y="0"/>
                </a:moveTo>
                <a:lnTo>
                  <a:pt x="9334500" y="0"/>
                </a:lnTo>
                <a:lnTo>
                  <a:pt x="9334500" y="6552101"/>
                </a:lnTo>
                <a:lnTo>
                  <a:pt x="0" y="65521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47" t="0" r="-47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25244" y="0"/>
            <a:ext cx="9362756" cy="10287000"/>
          </a:xfrm>
          <a:custGeom>
            <a:avLst/>
            <a:gdLst/>
            <a:ahLst/>
            <a:cxnLst/>
            <a:rect r="r" b="b" t="t" l="l"/>
            <a:pathLst>
              <a:path h="10287000" w="9362756">
                <a:moveTo>
                  <a:pt x="0" y="0"/>
                </a:moveTo>
                <a:lnTo>
                  <a:pt x="9362756" y="0"/>
                </a:lnTo>
                <a:lnTo>
                  <a:pt x="93627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25244" y="0"/>
            <a:ext cx="3707914" cy="10287000"/>
          </a:xfrm>
          <a:custGeom>
            <a:avLst/>
            <a:gdLst/>
            <a:ahLst/>
            <a:cxnLst/>
            <a:rect r="r" b="b" t="t" l="l"/>
            <a:pathLst>
              <a:path h="10287000" w="3707914">
                <a:moveTo>
                  <a:pt x="0" y="0"/>
                </a:moveTo>
                <a:lnTo>
                  <a:pt x="3707914" y="0"/>
                </a:lnTo>
                <a:lnTo>
                  <a:pt x="3707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44430" y="944745"/>
            <a:ext cx="7887480" cy="2587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69"/>
              </a:lnSpc>
            </a:pPr>
            <a:r>
              <a:rPr lang="en-US" sz="8840" b="true">
                <a:solidFill>
                  <a:srgbClr val="0C3354"/>
                </a:solidFill>
                <a:latin typeface="Roboto Bold"/>
                <a:ea typeface="Roboto Bold"/>
                <a:cs typeface="Roboto Bold"/>
                <a:sym typeface="Roboto Bold"/>
              </a:rPr>
              <a:t>Next Steps and Thank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3586" y="3955712"/>
            <a:ext cx="6118727" cy="1222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8"/>
              </a:lnSpc>
            </a:pPr>
            <a:r>
              <a:rPr lang="en-US" sz="2496">
                <a:solidFill>
                  <a:srgbClr val="0C3354"/>
                </a:solidFill>
                <a:latin typeface="Roboto"/>
                <a:ea typeface="Roboto"/>
                <a:cs typeface="Roboto"/>
                <a:sym typeface="Roboto"/>
              </a:rPr>
              <a:t>Build a graph attention network on</a:t>
            </a:r>
          </a:p>
          <a:p>
            <a:pPr algn="l">
              <a:lnSpc>
                <a:spcPts val="3368"/>
              </a:lnSpc>
            </a:pPr>
            <a:r>
              <a:rPr lang="en-US" sz="2496">
                <a:solidFill>
                  <a:srgbClr val="0C3354"/>
                </a:solidFill>
                <a:latin typeface="Roboto"/>
                <a:ea typeface="Roboto"/>
                <a:cs typeface="Roboto"/>
                <a:sym typeface="Roboto"/>
              </a:rPr>
              <a:t>the same road map, with the same splits and 1-hour history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64086" y="5356674"/>
            <a:ext cx="6759560" cy="218640"/>
          </a:xfrm>
          <a:custGeom>
            <a:avLst/>
            <a:gdLst/>
            <a:ahLst/>
            <a:cxnLst/>
            <a:rect r="r" b="b" t="t" l="l"/>
            <a:pathLst>
              <a:path h="218640" w="6759560">
                <a:moveTo>
                  <a:pt x="0" y="0"/>
                </a:moveTo>
                <a:lnTo>
                  <a:pt x="6759560" y="0"/>
                </a:lnTo>
                <a:lnTo>
                  <a:pt x="675956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4876" y="5708293"/>
            <a:ext cx="4989780" cy="78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6"/>
              </a:lnSpc>
            </a:pPr>
            <a:r>
              <a:rPr lang="en-US" sz="2390">
                <a:solidFill>
                  <a:srgbClr val="0C3354"/>
                </a:solidFill>
                <a:latin typeface="Roboto"/>
                <a:ea typeface="Roboto"/>
                <a:cs typeface="Roboto"/>
                <a:sym typeface="Roboto"/>
              </a:rPr>
              <a:t>Check if it helps most at rush hour</a:t>
            </a:r>
          </a:p>
          <a:p>
            <a:pPr algn="l">
              <a:lnSpc>
                <a:spcPts val="3226"/>
              </a:lnSpc>
            </a:pPr>
            <a:r>
              <a:rPr lang="en-US" sz="2390">
                <a:solidFill>
                  <a:srgbClr val="0C3354"/>
                </a:solidFill>
                <a:latin typeface="Roboto"/>
                <a:ea typeface="Roboto"/>
                <a:cs typeface="Roboto"/>
                <a:sym typeface="Roboto"/>
              </a:rPr>
              <a:t>and on the worst roads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64086" y="6635716"/>
            <a:ext cx="6759560" cy="229572"/>
          </a:xfrm>
          <a:custGeom>
            <a:avLst/>
            <a:gdLst/>
            <a:ahLst/>
            <a:cxnLst/>
            <a:rect r="r" b="b" t="t" l="l"/>
            <a:pathLst>
              <a:path h="229572" w="6759560">
                <a:moveTo>
                  <a:pt x="0" y="0"/>
                </a:moveTo>
                <a:lnTo>
                  <a:pt x="6759560" y="0"/>
                </a:lnTo>
                <a:lnTo>
                  <a:pt x="675956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00351" y="7033647"/>
            <a:ext cx="4442251" cy="787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6"/>
              </a:lnSpc>
            </a:pPr>
            <a:r>
              <a:rPr lang="en-US" sz="2390">
                <a:solidFill>
                  <a:srgbClr val="0C3354"/>
                </a:solidFill>
                <a:latin typeface="Roboto"/>
                <a:ea typeface="Roboto"/>
                <a:cs typeface="Roboto"/>
                <a:sym typeface="Roboto"/>
              </a:rPr>
              <a:t>Optionally, test a signal-timing</a:t>
            </a:r>
          </a:p>
          <a:p>
            <a:pPr algn="l">
              <a:lnSpc>
                <a:spcPts val="3226"/>
              </a:lnSpc>
            </a:pPr>
            <a:r>
              <a:rPr lang="en-US" sz="2390">
                <a:solidFill>
                  <a:srgbClr val="0C3354"/>
                </a:solidFill>
                <a:latin typeface="Roboto"/>
                <a:ea typeface="Roboto"/>
                <a:cs typeface="Roboto"/>
                <a:sym typeface="Roboto"/>
              </a:rPr>
              <a:t>idea in a simulator only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64086" y="7925691"/>
            <a:ext cx="6759560" cy="218640"/>
          </a:xfrm>
          <a:custGeom>
            <a:avLst/>
            <a:gdLst/>
            <a:ahLst/>
            <a:cxnLst/>
            <a:rect r="r" b="b" t="t" l="l"/>
            <a:pathLst>
              <a:path h="218640" w="6759560">
                <a:moveTo>
                  <a:pt x="0" y="0"/>
                </a:moveTo>
                <a:lnTo>
                  <a:pt x="6759560" y="0"/>
                </a:lnTo>
                <a:lnTo>
                  <a:pt x="675956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30241" y="8657200"/>
            <a:ext cx="6095414" cy="642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5"/>
              </a:lnSpc>
            </a:pPr>
            <a:r>
              <a:rPr lang="en-US" sz="4394" spc="87" b="true">
                <a:solidFill>
                  <a:srgbClr val="4989A9"/>
                </a:solidFill>
                <a:latin typeface="Roboto Bold"/>
                <a:ea typeface="Roboto Bold"/>
                <a:cs typeface="Roboto Bold"/>
                <a:sym typeface="Roboto Bold"/>
              </a:rP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DAHZOg_-FZ0</dc:identifier>
  <dcterms:modified xsi:type="dcterms:W3CDTF">2011-08-01T06:04:30Z</dcterms:modified>
  <cp:revision>1</cp:revision>
  <dc:title>METR-LA Traffic Speed</dc:title>
</cp:coreProperties>
</file>