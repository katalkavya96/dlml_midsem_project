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 Bold" charset="1" panose="02000503000000020004"/>
      <p:regular r:id="rId14"/>
    </p:embeddedFont>
    <p:embeddedFont>
      <p:font typeface="Inter Semi-Bold" charset="1" panose="02000503000000020004"/>
      <p:regular r:id="rId15"/>
    </p:embeddedFont>
    <p:embeddedFont>
      <p:font typeface="Inter Heavy" charset="1" panose="02000503000000020004"/>
      <p:regular r:id="rId16"/>
    </p:embeddedFont>
    <p:embeddedFont>
      <p:font typeface="Inter Medium" charset="1" panose="0200050300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15" Target="../media/image15.png" Type="http://schemas.openxmlformats.org/officeDocument/2006/relationships/image"/><Relationship Id="rId16" Target="../media/image16.pn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9.pn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21" Target="../media/image21.png" Type="http://schemas.openxmlformats.org/officeDocument/2006/relationships/image"/><Relationship Id="rId22" Target="../media/image22.png" Type="http://schemas.openxmlformats.org/officeDocument/2006/relationships/image"/><Relationship Id="rId23" Target="../media/image23.png" Type="http://schemas.openxmlformats.org/officeDocument/2006/relationships/image"/><Relationship Id="rId24" Target="../media/image24.png" Type="http://schemas.openxmlformats.org/officeDocument/2006/relationships/image"/><Relationship Id="rId25" Target="../media/image25.png" Type="http://schemas.openxmlformats.org/officeDocument/2006/relationships/image"/><Relationship Id="rId26" Target="../media/image26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13" Target="../media/image38.png" Type="http://schemas.openxmlformats.org/officeDocument/2006/relationships/image"/><Relationship Id="rId14" Target="../media/image39.png" Type="http://schemas.openxmlformats.org/officeDocument/2006/relationships/image"/><Relationship Id="rId15" Target="../media/image40.png" Type="http://schemas.openxmlformats.org/officeDocument/2006/relationships/image"/><Relationship Id="rId16" Target="../media/image41.png" Type="http://schemas.openxmlformats.org/officeDocument/2006/relationships/image"/><Relationship Id="rId17" Target="../media/image42.png" Type="http://schemas.openxmlformats.org/officeDocument/2006/relationships/image"/><Relationship Id="rId18" Target="../media/image43.png" Type="http://schemas.openxmlformats.org/officeDocument/2006/relationships/image"/><Relationship Id="rId19" Target="../media/image44.png" Type="http://schemas.openxmlformats.org/officeDocument/2006/relationships/image"/><Relationship Id="rId2" Target="../media/image27.png" Type="http://schemas.openxmlformats.org/officeDocument/2006/relationships/image"/><Relationship Id="rId20" Target="../media/image45.png" Type="http://schemas.openxmlformats.org/officeDocument/2006/relationships/image"/><Relationship Id="rId21" Target="../media/image46.png" Type="http://schemas.openxmlformats.org/officeDocument/2006/relationships/image"/><Relationship Id="rId22" Target="../media/image47.png" Type="http://schemas.openxmlformats.org/officeDocument/2006/relationships/image"/><Relationship Id="rId23" Target="../media/image48.png" Type="http://schemas.openxmlformats.org/officeDocument/2006/relationships/image"/><Relationship Id="rId24" Target="../media/image49.png" Type="http://schemas.openxmlformats.org/officeDocument/2006/relationships/image"/><Relationship Id="rId25" Target="../media/image50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63.png" Type="http://schemas.openxmlformats.org/officeDocument/2006/relationships/image"/><Relationship Id="rId15" Target="../media/image64.png" Type="http://schemas.openxmlformats.org/officeDocument/2006/relationships/image"/><Relationship Id="rId16" Target="../media/image65.png" Type="http://schemas.openxmlformats.org/officeDocument/2006/relationships/image"/><Relationship Id="rId17" Target="../media/image66.png" Type="http://schemas.openxmlformats.org/officeDocument/2006/relationships/image"/><Relationship Id="rId18" Target="../media/image67.png" Type="http://schemas.openxmlformats.org/officeDocument/2006/relationships/image"/><Relationship Id="rId19" Target="../media/image68.png" Type="http://schemas.openxmlformats.org/officeDocument/2006/relationships/image"/><Relationship Id="rId2" Target="../media/image51.png" Type="http://schemas.openxmlformats.org/officeDocument/2006/relationships/image"/><Relationship Id="rId20" Target="../media/image69.png" Type="http://schemas.openxmlformats.org/officeDocument/2006/relationships/image"/><Relationship Id="rId21" Target="../media/image70.png" Type="http://schemas.openxmlformats.org/officeDocument/2006/relationships/image"/><Relationship Id="rId22" Target="../media/image71.png" Type="http://schemas.openxmlformats.org/officeDocument/2006/relationships/image"/><Relationship Id="rId23" Target="../media/image72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png" Type="http://schemas.openxmlformats.org/officeDocument/2006/relationships/image"/><Relationship Id="rId12" Target="../media/image83.png" Type="http://schemas.openxmlformats.org/officeDocument/2006/relationships/image"/><Relationship Id="rId13" Target="../media/image84.png" Type="http://schemas.openxmlformats.org/officeDocument/2006/relationships/image"/><Relationship Id="rId14" Target="../media/image85.png" Type="http://schemas.openxmlformats.org/officeDocument/2006/relationships/image"/><Relationship Id="rId15" Target="../media/image86.png" Type="http://schemas.openxmlformats.org/officeDocument/2006/relationships/image"/><Relationship Id="rId16" Target="../media/image87.png" Type="http://schemas.openxmlformats.org/officeDocument/2006/relationships/image"/><Relationship Id="rId17" Target="../media/image88.png" Type="http://schemas.openxmlformats.org/officeDocument/2006/relationships/image"/><Relationship Id="rId18" Target="../media/image89.png" Type="http://schemas.openxmlformats.org/officeDocument/2006/relationships/image"/><Relationship Id="rId19" Target="../media/image90.png" Type="http://schemas.openxmlformats.org/officeDocument/2006/relationships/image"/><Relationship Id="rId2" Target="../media/image73.png" Type="http://schemas.openxmlformats.org/officeDocument/2006/relationships/image"/><Relationship Id="rId20" Target="../media/image91.png" Type="http://schemas.openxmlformats.org/officeDocument/2006/relationships/image"/><Relationship Id="rId21" Target="../media/image92.png" Type="http://schemas.openxmlformats.org/officeDocument/2006/relationships/image"/><Relationship Id="rId22" Target="../media/image93.png" Type="http://schemas.openxmlformats.org/officeDocument/2006/relationships/image"/><Relationship Id="rId23" Target="../media/image94.png" Type="http://schemas.openxmlformats.org/officeDocument/2006/relationships/image"/><Relationship Id="rId24" Target="../media/image95.png" Type="http://schemas.openxmlformats.org/officeDocument/2006/relationships/image"/><Relationship Id="rId25" Target="../media/image96.png" Type="http://schemas.openxmlformats.org/officeDocument/2006/relationships/image"/><Relationship Id="rId26" Target="../media/image97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png" Type="http://schemas.openxmlformats.org/officeDocument/2006/relationships/image"/><Relationship Id="rId11" Target="../media/image107.png" Type="http://schemas.openxmlformats.org/officeDocument/2006/relationships/image"/><Relationship Id="rId12" Target="../media/image108.png" Type="http://schemas.openxmlformats.org/officeDocument/2006/relationships/image"/><Relationship Id="rId13" Target="../media/image109.png" Type="http://schemas.openxmlformats.org/officeDocument/2006/relationships/image"/><Relationship Id="rId14" Target="../media/image110.png" Type="http://schemas.openxmlformats.org/officeDocument/2006/relationships/image"/><Relationship Id="rId15" Target="../media/image111.png" Type="http://schemas.openxmlformats.org/officeDocument/2006/relationships/image"/><Relationship Id="rId16" Target="../media/image112.png" Type="http://schemas.openxmlformats.org/officeDocument/2006/relationships/image"/><Relationship Id="rId17" Target="../media/image113.png" Type="http://schemas.openxmlformats.org/officeDocument/2006/relationships/image"/><Relationship Id="rId18" Target="../media/image114.png" Type="http://schemas.openxmlformats.org/officeDocument/2006/relationships/image"/><Relationship Id="rId19" Target="../media/image115.png" Type="http://schemas.openxmlformats.org/officeDocument/2006/relationships/image"/><Relationship Id="rId2" Target="../media/image98.png" Type="http://schemas.openxmlformats.org/officeDocument/2006/relationships/image"/><Relationship Id="rId20" Target="../media/image116.png" Type="http://schemas.openxmlformats.org/officeDocument/2006/relationships/image"/><Relationship Id="rId21" Target="../media/image117.png" Type="http://schemas.openxmlformats.org/officeDocument/2006/relationships/image"/><Relationship Id="rId3" Target="../media/image99.png" Type="http://schemas.openxmlformats.org/officeDocument/2006/relationships/image"/><Relationship Id="rId4" Target="../media/image100.png" Type="http://schemas.openxmlformats.org/officeDocument/2006/relationships/image"/><Relationship Id="rId5" Target="../media/image101.png" Type="http://schemas.openxmlformats.org/officeDocument/2006/relationships/image"/><Relationship Id="rId6" Target="../media/image102.png" Type="http://schemas.openxmlformats.org/officeDocument/2006/relationships/image"/><Relationship Id="rId7" Target="../media/image103.png" Type="http://schemas.openxmlformats.org/officeDocument/2006/relationships/image"/><Relationship Id="rId8" Target="../media/image104.pn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png" Type="http://schemas.openxmlformats.org/officeDocument/2006/relationships/image"/><Relationship Id="rId11" Target="../media/image127.png" Type="http://schemas.openxmlformats.org/officeDocument/2006/relationships/image"/><Relationship Id="rId12" Target="../media/image128.png" Type="http://schemas.openxmlformats.org/officeDocument/2006/relationships/image"/><Relationship Id="rId13" Target="../media/image129.png" Type="http://schemas.openxmlformats.org/officeDocument/2006/relationships/image"/><Relationship Id="rId14" Target="../media/image130.png" Type="http://schemas.openxmlformats.org/officeDocument/2006/relationships/image"/><Relationship Id="rId15" Target="../media/image131.png" Type="http://schemas.openxmlformats.org/officeDocument/2006/relationships/image"/><Relationship Id="rId16" Target="../media/image132.png" Type="http://schemas.openxmlformats.org/officeDocument/2006/relationships/image"/><Relationship Id="rId17" Target="../media/image133.png" Type="http://schemas.openxmlformats.org/officeDocument/2006/relationships/image"/><Relationship Id="rId18" Target="../media/image134.png" Type="http://schemas.openxmlformats.org/officeDocument/2006/relationships/image"/><Relationship Id="rId19" Target="../media/image135.png" Type="http://schemas.openxmlformats.org/officeDocument/2006/relationships/image"/><Relationship Id="rId2" Target="../media/image118.png" Type="http://schemas.openxmlformats.org/officeDocument/2006/relationships/image"/><Relationship Id="rId20" Target="../media/image136.png" Type="http://schemas.openxmlformats.org/officeDocument/2006/relationships/image"/><Relationship Id="rId21" Target="../media/image137.png" Type="http://schemas.openxmlformats.org/officeDocument/2006/relationships/image"/><Relationship Id="rId22" Target="../media/image138.png" Type="http://schemas.openxmlformats.org/officeDocument/2006/relationships/image"/><Relationship Id="rId23" Target="../media/image139.png" Type="http://schemas.openxmlformats.org/officeDocument/2006/relationships/image"/><Relationship Id="rId24" Target="../media/image140.png" Type="http://schemas.openxmlformats.org/officeDocument/2006/relationships/image"/><Relationship Id="rId25" Target="../media/image141.png" Type="http://schemas.openxmlformats.org/officeDocument/2006/relationships/image"/><Relationship Id="rId26" Target="../media/image142.png" Type="http://schemas.openxmlformats.org/officeDocument/2006/relationships/image"/><Relationship Id="rId27" Target="../media/image143.png" Type="http://schemas.openxmlformats.org/officeDocument/2006/relationships/image"/><Relationship Id="rId28" Target="../media/image144.png" Type="http://schemas.openxmlformats.org/officeDocument/2006/relationships/image"/><Relationship Id="rId29" Target="../media/image145.png" Type="http://schemas.openxmlformats.org/officeDocument/2006/relationships/image"/><Relationship Id="rId3" Target="../media/image119.png" Type="http://schemas.openxmlformats.org/officeDocument/2006/relationships/image"/><Relationship Id="rId30" Target="../media/image146.png" Type="http://schemas.openxmlformats.org/officeDocument/2006/relationships/image"/><Relationship Id="rId31" Target="../media/image147.png" Type="http://schemas.openxmlformats.org/officeDocument/2006/relationships/image"/><Relationship Id="rId32" Target="../media/image148.png" Type="http://schemas.openxmlformats.org/officeDocument/2006/relationships/image"/><Relationship Id="rId4" Target="../media/image120.png" Type="http://schemas.openxmlformats.org/officeDocument/2006/relationships/image"/><Relationship Id="rId5" Target="../media/image121.png" Type="http://schemas.openxmlformats.org/officeDocument/2006/relationships/image"/><Relationship Id="rId6" Target="../media/image122.png" Type="http://schemas.openxmlformats.org/officeDocument/2006/relationships/image"/><Relationship Id="rId7" Target="../media/image123.png" Type="http://schemas.openxmlformats.org/officeDocument/2006/relationships/image"/><Relationship Id="rId8" Target="../media/image124.png" Type="http://schemas.openxmlformats.org/officeDocument/2006/relationships/image"/><Relationship Id="rId9" Target="../media/image1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7.png" Type="http://schemas.openxmlformats.org/officeDocument/2006/relationships/image"/><Relationship Id="rId11" Target="../media/image158.png" Type="http://schemas.openxmlformats.org/officeDocument/2006/relationships/image"/><Relationship Id="rId12" Target="../media/image159.png" Type="http://schemas.openxmlformats.org/officeDocument/2006/relationships/image"/><Relationship Id="rId13" Target="../media/image160.png" Type="http://schemas.openxmlformats.org/officeDocument/2006/relationships/image"/><Relationship Id="rId14" Target="../media/image161.png" Type="http://schemas.openxmlformats.org/officeDocument/2006/relationships/image"/><Relationship Id="rId15" Target="../media/image162.png" Type="http://schemas.openxmlformats.org/officeDocument/2006/relationships/image"/><Relationship Id="rId16" Target="../media/image163.png" Type="http://schemas.openxmlformats.org/officeDocument/2006/relationships/image"/><Relationship Id="rId17" Target="../media/image164.png" Type="http://schemas.openxmlformats.org/officeDocument/2006/relationships/image"/><Relationship Id="rId18" Target="../media/image165.png" Type="http://schemas.openxmlformats.org/officeDocument/2006/relationships/image"/><Relationship Id="rId19" Target="../media/image166.png" Type="http://schemas.openxmlformats.org/officeDocument/2006/relationships/image"/><Relationship Id="rId2" Target="../media/image149.png" Type="http://schemas.openxmlformats.org/officeDocument/2006/relationships/image"/><Relationship Id="rId20" Target="../media/image167.png" Type="http://schemas.openxmlformats.org/officeDocument/2006/relationships/image"/><Relationship Id="rId21" Target="../media/image168.png" Type="http://schemas.openxmlformats.org/officeDocument/2006/relationships/image"/><Relationship Id="rId22" Target="../media/image169.png" Type="http://schemas.openxmlformats.org/officeDocument/2006/relationships/image"/><Relationship Id="rId23" Target="../media/image170.png" Type="http://schemas.openxmlformats.org/officeDocument/2006/relationships/image"/><Relationship Id="rId24" Target="../media/image171.png" Type="http://schemas.openxmlformats.org/officeDocument/2006/relationships/image"/><Relationship Id="rId3" Target="../media/image150.png" Type="http://schemas.openxmlformats.org/officeDocument/2006/relationships/image"/><Relationship Id="rId4" Target="../media/image151.png" Type="http://schemas.openxmlformats.org/officeDocument/2006/relationships/image"/><Relationship Id="rId5" Target="../media/image152.png" Type="http://schemas.openxmlformats.org/officeDocument/2006/relationships/image"/><Relationship Id="rId6" Target="../media/image153.png" Type="http://schemas.openxmlformats.org/officeDocument/2006/relationships/image"/><Relationship Id="rId7" Target="../media/image154.png" Type="http://schemas.openxmlformats.org/officeDocument/2006/relationships/image"/><Relationship Id="rId8" Target="../media/image155.png" Type="http://schemas.openxmlformats.org/officeDocument/2006/relationships/image"/><Relationship Id="rId9" Target="../media/image15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42670"/>
            <a:ext cx="13716000" cy="437279"/>
          </a:xfrm>
          <a:custGeom>
            <a:avLst/>
            <a:gdLst/>
            <a:ahLst/>
            <a:cxnLst/>
            <a:rect r="r" b="b" t="t" l="l"/>
            <a:pathLst>
              <a:path h="437279" w="13716000">
                <a:moveTo>
                  <a:pt x="0" y="0"/>
                </a:moveTo>
                <a:lnTo>
                  <a:pt x="13716000" y="0"/>
                </a:lnTo>
                <a:lnTo>
                  <a:pt x="1371600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78488" y="1279043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1330" y="0"/>
            <a:ext cx="3062584" cy="1508614"/>
          </a:xfrm>
          <a:custGeom>
            <a:avLst/>
            <a:gdLst/>
            <a:ahLst/>
            <a:cxnLst/>
            <a:rect r="r" b="b" t="t" l="l"/>
            <a:pathLst>
              <a:path h="1508614" w="3062584">
                <a:moveTo>
                  <a:pt x="0" y="0"/>
                </a:moveTo>
                <a:lnTo>
                  <a:pt x="3062584" y="0"/>
                </a:lnTo>
                <a:lnTo>
                  <a:pt x="3062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92622" y="0"/>
            <a:ext cx="2395378" cy="1508614"/>
          </a:xfrm>
          <a:custGeom>
            <a:avLst/>
            <a:gdLst/>
            <a:ahLst/>
            <a:cxnLst/>
            <a:rect r="r" b="b" t="t" l="l"/>
            <a:pathLst>
              <a:path h="1508614" w="2395378">
                <a:moveTo>
                  <a:pt x="0" y="0"/>
                </a:moveTo>
                <a:lnTo>
                  <a:pt x="2395378" y="0"/>
                </a:lnTo>
                <a:lnTo>
                  <a:pt x="239537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7441" y="454557"/>
            <a:ext cx="10191866" cy="99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6"/>
              </a:lnSpc>
            </a:pPr>
            <a:r>
              <a:rPr lang="en-US" sz="6612" b="true">
                <a:solidFill>
                  <a:srgbClr val="0B204F"/>
                </a:solidFill>
                <a:latin typeface="Inter Bold"/>
                <a:ea typeface="Inter Bold"/>
                <a:cs typeface="Inter Bold"/>
                <a:sym typeface="Inter Bold"/>
              </a:rPr>
              <a:t>METR-LA Dataset &amp; 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6814" y="1559535"/>
            <a:ext cx="5933484" cy="36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 overview and exploratory insights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6574" y="2569017"/>
            <a:ext cx="5457962" cy="655919"/>
          </a:xfrm>
          <a:custGeom>
            <a:avLst/>
            <a:gdLst/>
            <a:ahLst/>
            <a:cxnLst/>
            <a:rect r="r" b="b" t="t" l="l"/>
            <a:pathLst>
              <a:path h="655919" w="5457962">
                <a:moveTo>
                  <a:pt x="0" y="0"/>
                </a:moveTo>
                <a:lnTo>
                  <a:pt x="5457962" y="0"/>
                </a:lnTo>
                <a:lnTo>
                  <a:pt x="5457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2908" y="2743806"/>
            <a:ext cx="2397489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Sensor geography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6574" y="3214004"/>
            <a:ext cx="5457962" cy="6001661"/>
          </a:xfrm>
          <a:custGeom>
            <a:avLst/>
            <a:gdLst/>
            <a:ahLst/>
            <a:cxnLst/>
            <a:rect r="r" b="b" t="t" l="l"/>
            <a:pathLst>
              <a:path h="6001661" w="5457962">
                <a:moveTo>
                  <a:pt x="0" y="0"/>
                </a:moveTo>
                <a:lnTo>
                  <a:pt x="5457962" y="0"/>
                </a:lnTo>
                <a:lnTo>
                  <a:pt x="5457962" y="6001661"/>
                </a:lnTo>
                <a:lnTo>
                  <a:pt x="0" y="60016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04866" y="2819110"/>
            <a:ext cx="1019680" cy="62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2"/>
              </a:lnSpc>
            </a:pPr>
            <a:r>
              <a:rPr lang="en-US" sz="4176" b="true">
                <a:solidFill>
                  <a:srgbClr val="0B204F"/>
                </a:solidFill>
                <a:latin typeface="Inter Bold"/>
                <a:ea typeface="Inter Bold"/>
                <a:cs typeface="Inter Bold"/>
                <a:sym typeface="Inter Bold"/>
              </a:rPr>
              <a:t>207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092354" y="3848060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96235" y="4174585"/>
            <a:ext cx="1882711" cy="62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2"/>
              </a:lnSpc>
            </a:pPr>
            <a:r>
              <a:rPr lang="en-US" sz="4176" b="true">
                <a:solidFill>
                  <a:srgbClr val="0B204F"/>
                </a:solidFill>
                <a:latin typeface="Inter Bold"/>
                <a:ea typeface="Inter Bold"/>
                <a:cs typeface="Inter Bold"/>
                <a:sym typeface="Inter Bold"/>
              </a:rPr>
              <a:t>34,272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092354" y="5138034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200928" y="5520536"/>
            <a:ext cx="1413453" cy="36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 b="true">
                <a:solidFill>
                  <a:srgbClr val="0B204F"/>
                </a:solidFill>
                <a:latin typeface="Inter Bold"/>
                <a:ea typeface="Inter Bold"/>
                <a:cs typeface="Inter Bold"/>
                <a:sym typeface="Inter Bold"/>
              </a:rPr>
              <a:t>5-minute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05730" y="5966826"/>
            <a:ext cx="933247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cadence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092354" y="6209369"/>
            <a:ext cx="2625072" cy="437279"/>
          </a:xfrm>
          <a:custGeom>
            <a:avLst/>
            <a:gdLst/>
            <a:ahLst/>
            <a:cxnLst/>
            <a:rect r="r" b="b" t="t" l="l"/>
            <a:pathLst>
              <a:path h="437279" w="2625072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092354" y="7499343"/>
            <a:ext cx="2625072" cy="218640"/>
          </a:xfrm>
          <a:custGeom>
            <a:avLst/>
            <a:gdLst/>
            <a:ahLst/>
            <a:cxnLst/>
            <a:rect r="r" b="b" t="t" l="l"/>
            <a:pathLst>
              <a:path h="218640" w="2625072">
                <a:moveTo>
                  <a:pt x="0" y="0"/>
                </a:moveTo>
                <a:lnTo>
                  <a:pt x="2625072" y="0"/>
                </a:lnTo>
                <a:lnTo>
                  <a:pt x="262507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199766" y="7819309"/>
            <a:ext cx="1529653" cy="62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2"/>
              </a:lnSpc>
            </a:pPr>
            <a:r>
              <a:rPr lang="en-US" sz="4176" b="true">
                <a:solidFill>
                  <a:srgbClr val="48B4DD"/>
                </a:solidFill>
                <a:latin typeface="Inter Bold"/>
                <a:ea typeface="Inter Bold"/>
                <a:cs typeface="Inter Bold"/>
                <a:sym typeface="Inter Bold"/>
              </a:rPr>
              <a:t>8.11%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92046" y="8572351"/>
            <a:ext cx="2301610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missing values under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008086" y="2569017"/>
            <a:ext cx="7853340" cy="655919"/>
          </a:xfrm>
          <a:custGeom>
            <a:avLst/>
            <a:gdLst/>
            <a:ahLst/>
            <a:cxnLst/>
            <a:rect r="r" b="b" t="t" l="l"/>
            <a:pathLst>
              <a:path h="655919" w="7853340">
                <a:moveTo>
                  <a:pt x="0" y="0"/>
                </a:moveTo>
                <a:lnTo>
                  <a:pt x="7853340" y="0"/>
                </a:lnTo>
                <a:lnTo>
                  <a:pt x="785334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31418" y="2743806"/>
            <a:ext cx="2879281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Average speed profile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622220" y="3421712"/>
            <a:ext cx="667206" cy="229572"/>
          </a:xfrm>
          <a:custGeom>
            <a:avLst/>
            <a:gdLst/>
            <a:ahLst/>
            <a:cxnLst/>
            <a:rect r="r" b="b" t="t" l="l"/>
            <a:pathLst>
              <a:path h="229572" w="667206">
                <a:moveTo>
                  <a:pt x="0" y="0"/>
                </a:moveTo>
                <a:lnTo>
                  <a:pt x="667206" y="0"/>
                </a:lnTo>
                <a:lnTo>
                  <a:pt x="667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142574" y="3421712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101866" y="4066699"/>
            <a:ext cx="6322048" cy="1727254"/>
          </a:xfrm>
          <a:custGeom>
            <a:avLst/>
            <a:gdLst/>
            <a:ahLst/>
            <a:cxnLst/>
            <a:rect r="r" b="b" t="t" l="l"/>
            <a:pathLst>
              <a:path h="1727254" w="6322048">
                <a:moveTo>
                  <a:pt x="0" y="0"/>
                </a:moveTo>
                <a:lnTo>
                  <a:pt x="6322048" y="0"/>
                </a:lnTo>
                <a:lnTo>
                  <a:pt x="6322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589729" y="5761510"/>
            <a:ext cx="250560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7"/>
              </a:lnSpc>
            </a:pPr>
            <a:r>
              <a:rPr lang="en-US" sz="1513" b="true">
                <a:solidFill>
                  <a:srgbClr val="545454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88569" y="6635039"/>
            <a:ext cx="576192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sz="1513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00:00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17762" y="6635039"/>
            <a:ext cx="571759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sz="1513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06:00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23854" y="6635039"/>
            <a:ext cx="520683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sz="1513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12:00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575885" y="6635039"/>
            <a:ext cx="524153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sz="1513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18:00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106956" y="6635039"/>
            <a:ext cx="569543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sz="1513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24:00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101866" y="6428009"/>
            <a:ext cx="229694" cy="218640"/>
          </a:xfrm>
          <a:custGeom>
            <a:avLst/>
            <a:gdLst/>
            <a:ahLst/>
            <a:cxnLst/>
            <a:rect r="r" b="b" t="t" l="l"/>
            <a:pathLst>
              <a:path h="218640" w="229694">
                <a:moveTo>
                  <a:pt x="0" y="0"/>
                </a:moveTo>
                <a:lnTo>
                  <a:pt x="229694" y="0"/>
                </a:lnTo>
                <a:lnTo>
                  <a:pt x="229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622220" y="6428009"/>
            <a:ext cx="229694" cy="218640"/>
          </a:xfrm>
          <a:custGeom>
            <a:avLst/>
            <a:gdLst/>
            <a:ahLst/>
            <a:cxnLst/>
            <a:rect r="r" b="b" t="t" l="l"/>
            <a:pathLst>
              <a:path h="218640" w="229694">
                <a:moveTo>
                  <a:pt x="0" y="0"/>
                </a:moveTo>
                <a:lnTo>
                  <a:pt x="229694" y="0"/>
                </a:lnTo>
                <a:lnTo>
                  <a:pt x="229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142574" y="6428009"/>
            <a:ext cx="229694" cy="218640"/>
          </a:xfrm>
          <a:custGeom>
            <a:avLst/>
            <a:gdLst/>
            <a:ahLst/>
            <a:cxnLst/>
            <a:rect r="r" b="b" t="t" l="l"/>
            <a:pathLst>
              <a:path h="218640" w="229694">
                <a:moveTo>
                  <a:pt x="0" y="0"/>
                </a:moveTo>
                <a:lnTo>
                  <a:pt x="229694" y="0"/>
                </a:lnTo>
                <a:lnTo>
                  <a:pt x="229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673866" y="6428009"/>
            <a:ext cx="229694" cy="218640"/>
          </a:xfrm>
          <a:custGeom>
            <a:avLst/>
            <a:gdLst/>
            <a:ahLst/>
            <a:cxnLst/>
            <a:rect r="r" b="b" t="t" l="l"/>
            <a:pathLst>
              <a:path h="218640" w="229694">
                <a:moveTo>
                  <a:pt x="0" y="0"/>
                </a:moveTo>
                <a:lnTo>
                  <a:pt x="229694" y="0"/>
                </a:lnTo>
                <a:lnTo>
                  <a:pt x="229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7194220" y="6428009"/>
            <a:ext cx="229694" cy="218640"/>
          </a:xfrm>
          <a:custGeom>
            <a:avLst/>
            <a:gdLst/>
            <a:ahLst/>
            <a:cxnLst/>
            <a:rect r="r" b="b" t="t" l="l"/>
            <a:pathLst>
              <a:path h="218640" w="229694">
                <a:moveTo>
                  <a:pt x="0" y="0"/>
                </a:moveTo>
                <a:lnTo>
                  <a:pt x="229694" y="0"/>
                </a:lnTo>
                <a:lnTo>
                  <a:pt x="229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101866" y="6428009"/>
            <a:ext cx="6322048" cy="218640"/>
          </a:xfrm>
          <a:custGeom>
            <a:avLst/>
            <a:gdLst/>
            <a:ahLst/>
            <a:cxnLst/>
            <a:rect r="r" b="b" t="t" l="l"/>
            <a:pathLst>
              <a:path h="218640" w="6322048">
                <a:moveTo>
                  <a:pt x="0" y="0"/>
                </a:moveTo>
                <a:lnTo>
                  <a:pt x="6322048" y="0"/>
                </a:lnTo>
                <a:lnTo>
                  <a:pt x="632204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008086" y="7280704"/>
            <a:ext cx="7853340" cy="2153601"/>
          </a:xfrm>
          <a:custGeom>
            <a:avLst/>
            <a:gdLst/>
            <a:ahLst/>
            <a:cxnLst/>
            <a:rect r="r" b="b" t="t" l="l"/>
            <a:pathLst>
              <a:path h="2153601" w="7853340">
                <a:moveTo>
                  <a:pt x="0" y="0"/>
                </a:moveTo>
                <a:lnTo>
                  <a:pt x="7853340" y="0"/>
                </a:lnTo>
                <a:lnTo>
                  <a:pt x="7853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008086" y="7499343"/>
            <a:ext cx="4145426" cy="644987"/>
          </a:xfrm>
          <a:custGeom>
            <a:avLst/>
            <a:gdLst/>
            <a:ahLst/>
            <a:cxnLst/>
            <a:rect r="r" b="b" t="t" l="l"/>
            <a:pathLst>
              <a:path h="644987" w="4145426">
                <a:moveTo>
                  <a:pt x="0" y="0"/>
                </a:moveTo>
                <a:lnTo>
                  <a:pt x="4145426" y="0"/>
                </a:lnTo>
                <a:lnTo>
                  <a:pt x="414542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0215589" y="8210891"/>
            <a:ext cx="4462183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0B20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Missingness occurs in contiguous blocks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18657" y="8572351"/>
            <a:ext cx="4155435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0B20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Aligned with sensor downtime periods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95602" y="8918751"/>
            <a:ext cx="6460933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0B20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Graph validated for integrity but not used by trained models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0" y="9642013"/>
            <a:ext cx="18288000" cy="644987"/>
          </a:xfrm>
          <a:custGeom>
            <a:avLst/>
            <a:gdLst/>
            <a:ahLst/>
            <a:cxnLst/>
            <a:rect r="r" b="b" t="t" l="l"/>
            <a:pathLst>
              <a:path h="644987" w="18288000">
                <a:moveTo>
                  <a:pt x="0" y="0"/>
                </a:moveTo>
                <a:lnTo>
                  <a:pt x="18288000" y="0"/>
                </a:lnTo>
                <a:lnTo>
                  <a:pt x="1828800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0" y="9423373"/>
            <a:ext cx="2614134" cy="863627"/>
          </a:xfrm>
          <a:custGeom>
            <a:avLst/>
            <a:gdLst/>
            <a:ahLst/>
            <a:cxnLst/>
            <a:rect r="r" b="b" t="t" l="l"/>
            <a:pathLst>
              <a:path h="863627" w="2614134">
                <a:moveTo>
                  <a:pt x="0" y="0"/>
                </a:moveTo>
                <a:lnTo>
                  <a:pt x="2614134" y="0"/>
                </a:lnTo>
                <a:lnTo>
                  <a:pt x="261413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6188288" y="6589856"/>
            <a:ext cx="2677449" cy="29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B204F"/>
                </a:solidFill>
                <a:latin typeface="Inter Bold"/>
                <a:ea typeface="Inter Bold"/>
                <a:cs typeface="Inter Bold"/>
                <a:sym typeface="Inter Bold"/>
              </a:rPr>
              <a:t>March 1–June 27 2012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188291" y="8888629"/>
            <a:ext cx="2677118" cy="1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0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benchmark zero/NaN convention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32897" y="7638579"/>
            <a:ext cx="2731355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Missingness insights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202759" y="7066267"/>
            <a:ext cx="1230326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 period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202337" y="4852324"/>
            <a:ext cx="1272560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timestamps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30689" y="7036145"/>
            <a:ext cx="1209987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time of day</a:t>
            </a:r>
          </a:p>
        </p:txBody>
      </p:sp>
      <p:sp>
        <p:nvSpPr>
          <p:cNvPr name="TextBox 52" id="52"/>
          <p:cNvSpPr txBox="true"/>
          <p:nvPr/>
        </p:nvSpPr>
        <p:spPr>
          <a:xfrm rot="5400000">
            <a:off x="9538066" y="4852324"/>
            <a:ext cx="1337132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pads areane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49768" y="3336715"/>
            <a:ext cx="852290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7"/>
              </a:lnSpc>
            </a:pPr>
            <a:r>
              <a:rPr lang="en-US" sz="1513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weekday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645779" y="3336715"/>
            <a:ext cx="856509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4"/>
              </a:lnSpc>
            </a:pPr>
            <a:r>
              <a:rPr lang="en-US" sz="1511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weekend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206430" y="3511909"/>
            <a:ext cx="863229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sensors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586294" y="3924087"/>
            <a:ext cx="254029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7"/>
              </a:lnSpc>
            </a:pPr>
            <a:r>
              <a:rPr lang="en-US" sz="1513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586294" y="4541582"/>
            <a:ext cx="254029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7"/>
              </a:lnSpc>
            </a:pPr>
            <a:r>
              <a:rPr lang="en-US" sz="1513" b="true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60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580665" y="5159076"/>
            <a:ext cx="259715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7"/>
              </a:lnSpc>
            </a:pPr>
            <a:r>
              <a:rPr lang="en-US" sz="1513" b="true">
                <a:solidFill>
                  <a:srgbClr val="545454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40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709844" y="6379004"/>
            <a:ext cx="129231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7"/>
              </a:lnSpc>
            </a:pPr>
            <a:r>
              <a:rPr lang="en-US" sz="1513" b="true">
                <a:solidFill>
                  <a:srgbClr val="545454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42670"/>
            <a:ext cx="13716000" cy="437279"/>
          </a:xfrm>
          <a:custGeom>
            <a:avLst/>
            <a:gdLst/>
            <a:ahLst/>
            <a:cxnLst/>
            <a:rect r="r" b="b" t="t" l="l"/>
            <a:pathLst>
              <a:path h="437279" w="13716000">
                <a:moveTo>
                  <a:pt x="0" y="0"/>
                </a:moveTo>
                <a:lnTo>
                  <a:pt x="13716000" y="0"/>
                </a:lnTo>
                <a:lnTo>
                  <a:pt x="1371600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78488" y="1279043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1330" y="0"/>
            <a:ext cx="3281340" cy="1508614"/>
          </a:xfrm>
          <a:custGeom>
            <a:avLst/>
            <a:gdLst/>
            <a:ahLst/>
            <a:cxnLst/>
            <a:rect r="r" b="b" t="t" l="l"/>
            <a:pathLst>
              <a:path h="1508614" w="3281340">
                <a:moveTo>
                  <a:pt x="0" y="0"/>
                </a:moveTo>
                <a:lnTo>
                  <a:pt x="3281340" y="0"/>
                </a:lnTo>
                <a:lnTo>
                  <a:pt x="3281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92622" y="0"/>
            <a:ext cx="2395378" cy="1508614"/>
          </a:xfrm>
          <a:custGeom>
            <a:avLst/>
            <a:gdLst/>
            <a:ahLst/>
            <a:cxnLst/>
            <a:rect r="r" b="b" t="t" l="l"/>
            <a:pathLst>
              <a:path h="1508614" w="2395378">
                <a:moveTo>
                  <a:pt x="0" y="0"/>
                </a:moveTo>
                <a:lnTo>
                  <a:pt x="2395378" y="0"/>
                </a:lnTo>
                <a:lnTo>
                  <a:pt x="239537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6071" y="544357"/>
            <a:ext cx="12649936" cy="85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5"/>
              </a:lnSpc>
            </a:pPr>
            <a:r>
              <a:rPr lang="en-US" sz="5695" spc="-114" b="true">
                <a:solidFill>
                  <a:srgbClr val="092356"/>
                </a:solidFill>
                <a:latin typeface="Inter Heavy"/>
                <a:ea typeface="Inter Heavy"/>
                <a:cs typeface="Inter Heavy"/>
                <a:sym typeface="Inter Heavy"/>
              </a:rPr>
              <a:t>Causal Preprocessing &amp; 38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8176" y="1617029"/>
            <a:ext cx="6118335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 b="true">
                <a:solidFill>
                  <a:srgbClr val="545454"/>
                </a:solidFill>
                <a:latin typeface="Inter Bold"/>
                <a:ea typeface="Inter Bold"/>
                <a:cs typeface="Inter Bold"/>
                <a:sym typeface="Inter Bold"/>
              </a:rPr>
              <a:t>From past readings to predictive features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2776725"/>
            <a:ext cx="3718852" cy="2372241"/>
          </a:xfrm>
          <a:custGeom>
            <a:avLst/>
            <a:gdLst/>
            <a:ahLst/>
            <a:cxnLst/>
            <a:rect r="r" b="b" t="t" l="l"/>
            <a:pathLst>
              <a:path h="2372241" w="3718852">
                <a:moveTo>
                  <a:pt x="0" y="0"/>
                </a:moveTo>
                <a:lnTo>
                  <a:pt x="3718852" y="0"/>
                </a:lnTo>
                <a:lnTo>
                  <a:pt x="371885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2784" y="3068445"/>
            <a:ext cx="1512008" cy="78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sz="2584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Past 12</a:t>
            </a:r>
          </a:p>
          <a:p>
            <a:pPr algn="ctr">
              <a:lnSpc>
                <a:spcPts val="3102"/>
              </a:lnSpc>
            </a:pPr>
            <a:r>
              <a:rPr lang="en-US" sz="2584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readings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7923" y="4079143"/>
            <a:ext cx="2618524" cy="63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8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History window</a:t>
            </a:r>
          </a:p>
          <a:p>
            <a:pPr algn="ctr">
              <a:lnSpc>
                <a:spcPts val="2657"/>
              </a:lnSpc>
            </a:pPr>
            <a:r>
              <a:rPr lang="en-US" sz="1898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from the same sensor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353244" y="3421712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998574" y="2776725"/>
            <a:ext cx="3500096" cy="2372241"/>
          </a:xfrm>
          <a:custGeom>
            <a:avLst/>
            <a:gdLst/>
            <a:ahLst/>
            <a:cxnLst/>
            <a:rect r="r" b="b" t="t" l="l"/>
            <a:pathLst>
              <a:path h="2372241" w="3500096">
                <a:moveTo>
                  <a:pt x="0" y="0"/>
                </a:moveTo>
                <a:lnTo>
                  <a:pt x="3500096" y="0"/>
                </a:lnTo>
                <a:lnTo>
                  <a:pt x="350009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51233" y="3068445"/>
            <a:ext cx="1334775" cy="78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sz="2584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Detect</a:t>
            </a:r>
          </a:p>
          <a:p>
            <a:pPr algn="ctr">
              <a:lnSpc>
                <a:spcPts val="3102"/>
              </a:lnSpc>
            </a:pPr>
            <a:r>
              <a:rPr lang="en-US" sz="2584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missing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77512" y="4062364"/>
            <a:ext cx="1682215" cy="66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Identify gaps</a:t>
            </a:r>
          </a:p>
          <a:p>
            <a:pPr algn="ctr">
              <a:lnSpc>
                <a:spcPts val="2775"/>
              </a:lnSpc>
            </a:pPr>
            <a:r>
              <a:rPr lang="en-US" sz="1982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within history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706488" y="3421712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70574" y="2776725"/>
            <a:ext cx="3500096" cy="2372241"/>
          </a:xfrm>
          <a:custGeom>
            <a:avLst/>
            <a:gdLst/>
            <a:ahLst/>
            <a:cxnLst/>
            <a:rect r="r" b="b" t="t" l="l"/>
            <a:pathLst>
              <a:path h="2372241" w="3500096">
                <a:moveTo>
                  <a:pt x="0" y="0"/>
                </a:moveTo>
                <a:lnTo>
                  <a:pt x="3500096" y="0"/>
                </a:lnTo>
                <a:lnTo>
                  <a:pt x="350009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68405" y="3050597"/>
            <a:ext cx="2476527" cy="8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4"/>
              </a:lnSpc>
            </a:pPr>
            <a:r>
              <a:rPr lang="en-US" sz="2736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Forward-fill within history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67276" y="4079143"/>
            <a:ext cx="2485214" cy="63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8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Fill only using</a:t>
            </a:r>
          </a:p>
          <a:p>
            <a:pPr algn="ctr">
              <a:lnSpc>
                <a:spcPts val="2657"/>
              </a:lnSpc>
            </a:pPr>
            <a:r>
              <a:rPr lang="en-US" sz="1898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available past values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059732" y="3421712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923818" y="2776725"/>
            <a:ext cx="3500096" cy="2372241"/>
          </a:xfrm>
          <a:custGeom>
            <a:avLst/>
            <a:gdLst/>
            <a:ahLst/>
            <a:cxnLst/>
            <a:rect r="r" b="b" t="t" l="l"/>
            <a:pathLst>
              <a:path h="2372241" w="3500096">
                <a:moveTo>
                  <a:pt x="0" y="0"/>
                </a:moveTo>
                <a:lnTo>
                  <a:pt x="3500096" y="0"/>
                </a:lnTo>
                <a:lnTo>
                  <a:pt x="350009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825809" y="3068445"/>
            <a:ext cx="1477272" cy="78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sz="2584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Extract</a:t>
            </a:r>
          </a:p>
          <a:p>
            <a:pPr algn="ctr">
              <a:lnSpc>
                <a:spcPts val="3102"/>
              </a:lnSpc>
            </a:pPr>
            <a:r>
              <a:rPr lang="en-US" sz="2584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features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14546" y="4062364"/>
            <a:ext cx="1899799" cy="66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Convert history</a:t>
            </a:r>
          </a:p>
          <a:p>
            <a:pPr algn="ctr">
              <a:lnSpc>
                <a:spcPts val="2775"/>
              </a:lnSpc>
            </a:pPr>
            <a:r>
              <a:rPr lang="en-US" sz="1982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into predictors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32624" y="5261752"/>
            <a:ext cx="12894138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104" b="true">
                <a:solidFill>
                  <a:srgbClr val="4D4D4D"/>
                </a:solidFill>
                <a:latin typeface="Inter Heavy"/>
                <a:ea typeface="Inter Heavy"/>
                <a:cs typeface="Inter Heavy"/>
                <a:sym typeface="Inter Heavy"/>
              </a:rPr>
              <a:t>Leading missing values are set to the sensor </a:t>
            </a:r>
            <a:r>
              <a:rPr lang="en-US" sz="2104" b="true">
                <a:solidFill>
                  <a:srgbClr val="2699D1"/>
                </a:solidFill>
                <a:latin typeface="Inter Heavy"/>
                <a:ea typeface="Inter Heavy"/>
                <a:cs typeface="Inter Heavy"/>
                <a:sym typeface="Inter Heavy"/>
              </a:rPr>
              <a:t>training median.</a:t>
            </a:r>
            <a:r>
              <a:rPr lang="en-US" sz="2104" b="true">
                <a:solidFill>
                  <a:srgbClr val="4D4D4D"/>
                </a:solidFill>
                <a:latin typeface="Inter Heavy"/>
                <a:ea typeface="Inter Heavy"/>
                <a:cs typeface="Inter Heavy"/>
                <a:sym typeface="Inter Heavy"/>
              </a:rPr>
              <a:t> Future targets </a:t>
            </a:r>
            <a:r>
              <a:rPr lang="en-US" sz="2104" b="true">
                <a:solidFill>
                  <a:srgbClr val="2699D1"/>
                </a:solidFill>
                <a:latin typeface="Inter Heavy"/>
                <a:ea typeface="Inter Heavy"/>
                <a:cs typeface="Inter Heavy"/>
                <a:sym typeface="Inter Heavy"/>
              </a:rPr>
              <a:t>remain untouched.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45330" y="5783021"/>
            <a:ext cx="4145426" cy="3006296"/>
          </a:xfrm>
          <a:custGeom>
            <a:avLst/>
            <a:gdLst/>
            <a:ahLst/>
            <a:cxnLst/>
            <a:rect r="r" b="b" t="t" l="l"/>
            <a:pathLst>
              <a:path h="3006296" w="4145426">
                <a:moveTo>
                  <a:pt x="0" y="0"/>
                </a:moveTo>
                <a:lnTo>
                  <a:pt x="4145426" y="0"/>
                </a:lnTo>
                <a:lnTo>
                  <a:pt x="4145426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45330" y="5783021"/>
            <a:ext cx="4145426" cy="1082267"/>
          </a:xfrm>
          <a:custGeom>
            <a:avLst/>
            <a:gdLst/>
            <a:ahLst/>
            <a:cxnLst/>
            <a:rect r="r" b="b" t="t" l="l"/>
            <a:pathLst>
              <a:path h="1082267" w="4145426">
                <a:moveTo>
                  <a:pt x="0" y="0"/>
                </a:moveTo>
                <a:lnTo>
                  <a:pt x="4145426" y="0"/>
                </a:lnTo>
                <a:lnTo>
                  <a:pt x="414542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263116" y="5966826"/>
            <a:ext cx="827829" cy="82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3"/>
              </a:lnSpc>
            </a:pPr>
            <a:r>
              <a:rPr lang="en-US" sz="5501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12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64812" y="7129297"/>
            <a:ext cx="1854441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1"/>
              </a:lnSpc>
            </a:pPr>
            <a:r>
              <a:rPr lang="en-US" sz="2325" b="true">
                <a:solidFill>
                  <a:srgbClr val="092356"/>
                </a:solidFill>
                <a:latin typeface="Inter Heavy"/>
                <a:ea typeface="Inter Heavy"/>
                <a:cs typeface="Inter Heavy"/>
                <a:sym typeface="Inter Heavy"/>
              </a:rPr>
              <a:t>Lag features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5777" y="7693745"/>
            <a:ext cx="2472512" cy="63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8" b="true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Historical speed</a:t>
            </a:r>
          </a:p>
          <a:p>
            <a:pPr algn="ctr">
              <a:lnSpc>
                <a:spcPts val="2657"/>
              </a:lnSpc>
            </a:pPr>
            <a:r>
              <a:rPr lang="en-US" sz="1898" b="true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values from the past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4998574" y="5783021"/>
            <a:ext cx="3937608" cy="3006296"/>
          </a:xfrm>
          <a:custGeom>
            <a:avLst/>
            <a:gdLst/>
            <a:ahLst/>
            <a:cxnLst/>
            <a:rect r="r" b="b" t="t" l="l"/>
            <a:pathLst>
              <a:path h="3006296" w="3937608">
                <a:moveTo>
                  <a:pt x="0" y="0"/>
                </a:moveTo>
                <a:lnTo>
                  <a:pt x="3937608" y="0"/>
                </a:lnTo>
                <a:lnTo>
                  <a:pt x="3937608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998574" y="5783021"/>
            <a:ext cx="3937608" cy="1082267"/>
          </a:xfrm>
          <a:custGeom>
            <a:avLst/>
            <a:gdLst/>
            <a:ahLst/>
            <a:cxnLst/>
            <a:rect r="r" b="b" t="t" l="l"/>
            <a:pathLst>
              <a:path h="1082267" w="3937608">
                <a:moveTo>
                  <a:pt x="0" y="0"/>
                </a:moveTo>
                <a:lnTo>
                  <a:pt x="3937608" y="0"/>
                </a:lnTo>
                <a:lnTo>
                  <a:pt x="393760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522577" y="5966826"/>
            <a:ext cx="827829" cy="82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3"/>
              </a:lnSpc>
            </a:pPr>
            <a:r>
              <a:rPr lang="en-US" sz="5501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12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973478" y="7138220"/>
            <a:ext cx="1952816" cy="32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6"/>
              </a:lnSpc>
            </a:pPr>
            <a:r>
              <a:rPr lang="en-US" sz="2196" b="true">
                <a:solidFill>
                  <a:srgbClr val="2699D1"/>
                </a:solidFill>
                <a:latin typeface="Inter Heavy"/>
                <a:ea typeface="Inter Heavy"/>
                <a:cs typeface="Inter Heavy"/>
                <a:sym typeface="Inter Heavy"/>
              </a:rPr>
              <a:t>Missing flags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53277" y="7693745"/>
            <a:ext cx="2793220" cy="63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8" b="true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Indicators showing where data was absent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144000" y="5783021"/>
            <a:ext cx="4145426" cy="3006296"/>
          </a:xfrm>
          <a:custGeom>
            <a:avLst/>
            <a:gdLst/>
            <a:ahLst/>
            <a:cxnLst/>
            <a:rect r="r" b="b" t="t" l="l"/>
            <a:pathLst>
              <a:path h="3006296" w="4145426">
                <a:moveTo>
                  <a:pt x="0" y="0"/>
                </a:moveTo>
                <a:lnTo>
                  <a:pt x="4145426" y="0"/>
                </a:lnTo>
                <a:lnTo>
                  <a:pt x="4145426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144000" y="5783021"/>
            <a:ext cx="4145426" cy="1082267"/>
          </a:xfrm>
          <a:custGeom>
            <a:avLst/>
            <a:gdLst/>
            <a:ahLst/>
            <a:cxnLst/>
            <a:rect r="r" b="b" t="t" l="l"/>
            <a:pathLst>
              <a:path h="1082267" w="4145426">
                <a:moveTo>
                  <a:pt x="0" y="0"/>
                </a:moveTo>
                <a:lnTo>
                  <a:pt x="4145426" y="0"/>
                </a:lnTo>
                <a:lnTo>
                  <a:pt x="414542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015785" y="5966826"/>
            <a:ext cx="413915" cy="82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3"/>
              </a:lnSpc>
            </a:pPr>
            <a:r>
              <a:rPr lang="en-US" sz="5501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9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13350" y="7129297"/>
            <a:ext cx="288162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1"/>
              </a:lnSpc>
            </a:pPr>
            <a:r>
              <a:rPr lang="en-US" sz="2325" b="true">
                <a:solidFill>
                  <a:srgbClr val="2699D1"/>
                </a:solidFill>
                <a:latin typeface="Inter Heavy"/>
                <a:ea typeface="Inter Heavy"/>
                <a:cs typeface="Inter Heavy"/>
                <a:sym typeface="Inter Heavy"/>
              </a:rPr>
              <a:t>Statistical / change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41435" y="7693745"/>
            <a:ext cx="2825455" cy="63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8" b="true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Aggregates and change metrics from history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3497244" y="5783021"/>
            <a:ext cx="3926670" cy="3006296"/>
          </a:xfrm>
          <a:custGeom>
            <a:avLst/>
            <a:gdLst/>
            <a:ahLst/>
            <a:cxnLst/>
            <a:rect r="r" b="b" t="t" l="l"/>
            <a:pathLst>
              <a:path h="3006296" w="3926670">
                <a:moveTo>
                  <a:pt x="0" y="0"/>
                </a:moveTo>
                <a:lnTo>
                  <a:pt x="3926670" y="0"/>
                </a:lnTo>
                <a:lnTo>
                  <a:pt x="3926670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497244" y="5783021"/>
            <a:ext cx="3926670" cy="1082267"/>
          </a:xfrm>
          <a:custGeom>
            <a:avLst/>
            <a:gdLst/>
            <a:ahLst/>
            <a:cxnLst/>
            <a:rect r="r" b="b" t="t" l="l"/>
            <a:pathLst>
              <a:path h="1082267" w="3926670">
                <a:moveTo>
                  <a:pt x="0" y="0"/>
                </a:moveTo>
                <a:lnTo>
                  <a:pt x="3926670" y="0"/>
                </a:lnTo>
                <a:lnTo>
                  <a:pt x="392667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5221667" y="5966826"/>
            <a:ext cx="413915" cy="82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3"/>
              </a:lnSpc>
            </a:pPr>
            <a:r>
              <a:rPr lang="en-US" sz="5501" b="true">
                <a:solidFill>
                  <a:srgbClr val="F8F8F8"/>
                </a:solidFill>
                <a:latin typeface="Inter Heavy"/>
                <a:ea typeface="Inter Heavy"/>
                <a:cs typeface="Inter Heavy"/>
                <a:sym typeface="Inter Heavy"/>
              </a:rPr>
              <a:t>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025709" y="7129297"/>
            <a:ext cx="2668671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1"/>
              </a:lnSpc>
            </a:pPr>
            <a:r>
              <a:rPr lang="en-US" sz="2325" b="true">
                <a:solidFill>
                  <a:srgbClr val="1996AD"/>
                </a:solidFill>
                <a:latin typeface="Inter Heavy"/>
                <a:ea typeface="Inter Heavy"/>
                <a:cs typeface="Inter Heavy"/>
                <a:sym typeface="Inter Heavy"/>
              </a:rPr>
              <a:t>Calendar features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076871" y="7693745"/>
            <a:ext cx="2566348" cy="63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8" b="true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Time-based context</a:t>
            </a:r>
          </a:p>
          <a:p>
            <a:pPr algn="ctr">
              <a:lnSpc>
                <a:spcPts val="2657"/>
              </a:lnSpc>
            </a:pPr>
            <a:r>
              <a:rPr lang="en-US" sz="1898" b="true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from calendar signals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2603196" y="8778386"/>
            <a:ext cx="12862852" cy="874559"/>
          </a:xfrm>
          <a:custGeom>
            <a:avLst/>
            <a:gdLst/>
            <a:ahLst/>
            <a:cxnLst/>
            <a:rect r="r" b="b" t="t" l="l"/>
            <a:pathLst>
              <a:path h="874559" w="12862852">
                <a:moveTo>
                  <a:pt x="0" y="0"/>
                </a:moveTo>
                <a:lnTo>
                  <a:pt x="12862852" y="0"/>
                </a:lnTo>
                <a:lnTo>
                  <a:pt x="1286285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3674031" y="9042024"/>
            <a:ext cx="2000785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104" b="true">
                <a:solidFill>
                  <a:srgbClr val="092356"/>
                </a:solidFill>
                <a:latin typeface="Inter Heavy"/>
                <a:ea typeface="Inter Heavy"/>
                <a:cs typeface="Inter Heavy"/>
                <a:sym typeface="Inter Heavy"/>
              </a:rPr>
              <a:t>Total features: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958914" y="8903124"/>
            <a:ext cx="669282" cy="57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3780" b="true">
                <a:solidFill>
                  <a:srgbClr val="2699D1"/>
                </a:solidFill>
                <a:latin typeface="Inter Heavy"/>
                <a:ea typeface="Inter Heavy"/>
                <a:cs typeface="Inter Heavy"/>
                <a:sym typeface="Inter Heavy"/>
              </a:rPr>
              <a:t>38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7393952" y="8997026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7956352" y="9059345"/>
            <a:ext cx="6965156" cy="32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2115" b="true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No standardization, PCA or feature selection ablation.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0" y="9423373"/>
            <a:ext cx="2614134" cy="863627"/>
          </a:xfrm>
          <a:custGeom>
            <a:avLst/>
            <a:gdLst/>
            <a:ahLst/>
            <a:cxnLst/>
            <a:rect r="r" b="b" t="t" l="l"/>
            <a:pathLst>
              <a:path h="863627" w="2614134">
                <a:moveTo>
                  <a:pt x="0" y="0"/>
                </a:moveTo>
                <a:lnTo>
                  <a:pt x="2614134" y="0"/>
                </a:lnTo>
                <a:lnTo>
                  <a:pt x="261413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957866" y="9642013"/>
            <a:ext cx="16330134" cy="644987"/>
          </a:xfrm>
          <a:custGeom>
            <a:avLst/>
            <a:gdLst/>
            <a:ahLst/>
            <a:cxnLst/>
            <a:rect r="r" b="b" t="t" l="l"/>
            <a:pathLst>
              <a:path h="644987" w="16330134">
                <a:moveTo>
                  <a:pt x="0" y="0"/>
                </a:moveTo>
                <a:lnTo>
                  <a:pt x="16330134" y="0"/>
                </a:lnTo>
                <a:lnTo>
                  <a:pt x="1633013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42670"/>
            <a:ext cx="13716000" cy="437279"/>
          </a:xfrm>
          <a:custGeom>
            <a:avLst/>
            <a:gdLst/>
            <a:ahLst/>
            <a:cxnLst/>
            <a:rect r="r" b="b" t="t" l="l"/>
            <a:pathLst>
              <a:path h="437279" w="13716000">
                <a:moveTo>
                  <a:pt x="0" y="0"/>
                </a:moveTo>
                <a:lnTo>
                  <a:pt x="13716000" y="0"/>
                </a:lnTo>
                <a:lnTo>
                  <a:pt x="1371600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78488" y="1279043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1330" y="0"/>
            <a:ext cx="3062584" cy="1508614"/>
          </a:xfrm>
          <a:custGeom>
            <a:avLst/>
            <a:gdLst/>
            <a:ahLst/>
            <a:cxnLst/>
            <a:rect r="r" b="b" t="t" l="l"/>
            <a:pathLst>
              <a:path h="1508614" w="3062584">
                <a:moveTo>
                  <a:pt x="0" y="0"/>
                </a:moveTo>
                <a:lnTo>
                  <a:pt x="3062584" y="0"/>
                </a:lnTo>
                <a:lnTo>
                  <a:pt x="3062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92622" y="0"/>
            <a:ext cx="2395378" cy="1508614"/>
          </a:xfrm>
          <a:custGeom>
            <a:avLst/>
            <a:gdLst/>
            <a:ahLst/>
            <a:cxnLst/>
            <a:rect r="r" b="b" t="t" l="l"/>
            <a:pathLst>
              <a:path h="1508614" w="2395378">
                <a:moveTo>
                  <a:pt x="0" y="0"/>
                </a:moveTo>
                <a:lnTo>
                  <a:pt x="2395378" y="0"/>
                </a:lnTo>
                <a:lnTo>
                  <a:pt x="239537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4732" y="574479"/>
            <a:ext cx="10141638" cy="85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5"/>
              </a:lnSpc>
            </a:pPr>
            <a:r>
              <a:rPr lang="en-US" sz="5695" spc="114" b="true">
                <a:solidFill>
                  <a:srgbClr val="0B2250"/>
                </a:solidFill>
                <a:latin typeface="Inter Heavy"/>
                <a:ea typeface="Inter Heavy"/>
                <a:cs typeface="Inter Heavy"/>
                <a:sym typeface="Inter Heavy"/>
              </a:rPr>
              <a:t>Four Forecasting Methods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2684" y="1566248"/>
            <a:ext cx="10025394" cy="38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2262" spc="22" b="true">
                <a:solidFill>
                  <a:srgbClr val="555555"/>
                </a:solidFill>
                <a:latin typeface="Inter Bold"/>
                <a:ea typeface="Inter Bold"/>
                <a:cs typeface="Inter Bold"/>
                <a:sym typeface="Inter Bold"/>
              </a:rPr>
              <a:t>Traditional machine learning approaches for traffic speed prediction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6574" y="2569017"/>
            <a:ext cx="3937608" cy="655919"/>
          </a:xfrm>
          <a:custGeom>
            <a:avLst/>
            <a:gdLst/>
            <a:ahLst/>
            <a:cxnLst/>
            <a:rect r="r" b="b" t="t" l="l"/>
            <a:pathLst>
              <a:path h="655919" w="3937608">
                <a:moveTo>
                  <a:pt x="0" y="0"/>
                </a:moveTo>
                <a:lnTo>
                  <a:pt x="3937608" y="0"/>
                </a:lnTo>
                <a:lnTo>
                  <a:pt x="393760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3861" y="2758224"/>
            <a:ext cx="1696733" cy="31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b="true" sz="1883" spc="1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PERSISTENCE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6574" y="2995365"/>
            <a:ext cx="3937608" cy="4722618"/>
          </a:xfrm>
          <a:custGeom>
            <a:avLst/>
            <a:gdLst/>
            <a:ahLst/>
            <a:cxnLst/>
            <a:rect r="r" b="b" t="t" l="l"/>
            <a:pathLst>
              <a:path h="4722618" w="3937608">
                <a:moveTo>
                  <a:pt x="0" y="0"/>
                </a:moveTo>
                <a:lnTo>
                  <a:pt x="3937608" y="0"/>
                </a:lnTo>
                <a:lnTo>
                  <a:pt x="3937608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3484" y="3318939"/>
            <a:ext cx="1055545" cy="82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0"/>
              </a:lnSpc>
            </a:pPr>
            <a:r>
              <a:rPr lang="en-US" b="true" sz="4907" spc="47">
                <a:solidFill>
                  <a:srgbClr val="42BBE6"/>
                </a:solidFill>
                <a:latin typeface="Inter Heavy"/>
                <a:ea typeface="Inter Heavy"/>
                <a:cs typeface="Inter Heavy"/>
                <a:sym typeface="Inter Heavy"/>
              </a:rPr>
              <a:t>M0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4742" y="4350308"/>
            <a:ext cx="1608593" cy="5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803" spc="17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repeats latest</a:t>
            </a:r>
          </a:p>
          <a:p>
            <a:pPr algn="l">
              <a:lnSpc>
                <a:spcPts val="2524"/>
              </a:lnSpc>
            </a:pPr>
            <a:r>
              <a:rPr lang="en-US" sz="1803" spc="17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valid reading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4086" y="5783021"/>
            <a:ext cx="3281340" cy="218640"/>
          </a:xfrm>
          <a:custGeom>
            <a:avLst/>
            <a:gdLst/>
            <a:ahLst/>
            <a:cxnLst/>
            <a:rect r="r" b="b" t="t" l="l"/>
            <a:pathLst>
              <a:path h="218640" w="3281340">
                <a:moveTo>
                  <a:pt x="0" y="0"/>
                </a:moveTo>
                <a:lnTo>
                  <a:pt x="3281340" y="0"/>
                </a:lnTo>
                <a:lnTo>
                  <a:pt x="328134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92792" y="6546743"/>
            <a:ext cx="1803589" cy="5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uses most recent</a:t>
            </a:r>
          </a:p>
          <a:p>
            <a:pPr algn="l">
              <a:lnSpc>
                <a:spcPts val="2281"/>
              </a:lnSpc>
            </a:pPr>
            <a:r>
              <a:rPr lang="en-US" sz="1629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observed speed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572000" y="2569017"/>
            <a:ext cx="4145426" cy="655919"/>
          </a:xfrm>
          <a:custGeom>
            <a:avLst/>
            <a:gdLst/>
            <a:ahLst/>
            <a:cxnLst/>
            <a:rect r="r" b="b" t="t" l="l"/>
            <a:pathLst>
              <a:path h="655919" w="4145426">
                <a:moveTo>
                  <a:pt x="0" y="0"/>
                </a:moveTo>
                <a:lnTo>
                  <a:pt x="4145426" y="0"/>
                </a:lnTo>
                <a:lnTo>
                  <a:pt x="414542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793770" y="2750316"/>
            <a:ext cx="2826131" cy="32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b="true" sz="1963" spc="1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HISTORICAL AVERAGE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572000" y="2995365"/>
            <a:ext cx="4145426" cy="4722618"/>
          </a:xfrm>
          <a:custGeom>
            <a:avLst/>
            <a:gdLst/>
            <a:ahLst/>
            <a:cxnLst/>
            <a:rect r="r" b="b" t="t" l="l"/>
            <a:pathLst>
              <a:path h="4722618" w="4145426">
                <a:moveTo>
                  <a:pt x="0" y="0"/>
                </a:moveTo>
                <a:lnTo>
                  <a:pt x="4145426" y="0"/>
                </a:lnTo>
                <a:lnTo>
                  <a:pt x="4145426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784687" y="3286615"/>
            <a:ext cx="1055545" cy="88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8"/>
              </a:lnSpc>
            </a:pPr>
            <a:r>
              <a:rPr lang="en-US" b="true" sz="5220" spc="50">
                <a:solidFill>
                  <a:srgbClr val="42BBE6"/>
                </a:solidFill>
                <a:latin typeface="Inter Heavy"/>
                <a:ea typeface="Inter Heavy"/>
                <a:cs typeface="Inter Heavy"/>
                <a:sym typeface="Inter Heavy"/>
              </a:rPr>
              <a:t>M1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05098" y="4368088"/>
            <a:ext cx="1693351" cy="95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8" spc="18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uses training</a:t>
            </a:r>
          </a:p>
          <a:p>
            <a:pPr algn="l">
              <a:lnSpc>
                <a:spcPts val="2657"/>
              </a:lnSpc>
            </a:pPr>
            <a:r>
              <a:rPr lang="en-US" sz="1898" spc="18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time-of-week</a:t>
            </a:r>
          </a:p>
          <a:p>
            <a:pPr algn="l">
              <a:lnSpc>
                <a:spcPts val="2657"/>
              </a:lnSpc>
            </a:pPr>
            <a:r>
              <a:rPr lang="en-US" sz="1898" spc="18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target slot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779818" y="5783021"/>
            <a:ext cx="3718852" cy="218640"/>
          </a:xfrm>
          <a:custGeom>
            <a:avLst/>
            <a:gdLst/>
            <a:ahLst/>
            <a:cxnLst/>
            <a:rect r="r" b="b" t="t" l="l"/>
            <a:pathLst>
              <a:path h="218640" w="3718852">
                <a:moveTo>
                  <a:pt x="0" y="0"/>
                </a:moveTo>
                <a:lnTo>
                  <a:pt x="3718852" y="0"/>
                </a:lnTo>
                <a:lnTo>
                  <a:pt x="371885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796437" y="6546743"/>
            <a:ext cx="2559433" cy="5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averages past values for</a:t>
            </a:r>
          </a:p>
          <a:p>
            <a:pPr algn="l">
              <a:lnSpc>
                <a:spcPts val="2281"/>
              </a:lnSpc>
            </a:pPr>
            <a:r>
              <a:rPr lang="en-US" sz="1629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same time-of-week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706488" y="2569017"/>
            <a:ext cx="4364182" cy="655919"/>
          </a:xfrm>
          <a:custGeom>
            <a:avLst/>
            <a:gdLst/>
            <a:ahLst/>
            <a:cxnLst/>
            <a:rect r="r" b="b" t="t" l="l"/>
            <a:pathLst>
              <a:path h="655919" w="4364182">
                <a:moveTo>
                  <a:pt x="0" y="0"/>
                </a:moveTo>
                <a:lnTo>
                  <a:pt x="4364182" y="0"/>
                </a:lnTo>
                <a:lnTo>
                  <a:pt x="436418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12346" y="2741300"/>
            <a:ext cx="2272387" cy="33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b="true" sz="2003" spc="1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RANDOM FOREST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706488" y="2995365"/>
            <a:ext cx="4364182" cy="4722618"/>
          </a:xfrm>
          <a:custGeom>
            <a:avLst/>
            <a:gdLst/>
            <a:ahLst/>
            <a:cxnLst/>
            <a:rect r="r" b="b" t="t" l="l"/>
            <a:pathLst>
              <a:path h="4722618" w="4364182">
                <a:moveTo>
                  <a:pt x="0" y="0"/>
                </a:moveTo>
                <a:lnTo>
                  <a:pt x="4364182" y="0"/>
                </a:lnTo>
                <a:lnTo>
                  <a:pt x="436418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124515" y="3311340"/>
            <a:ext cx="1055545" cy="84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6"/>
              </a:lnSpc>
            </a:pPr>
            <a:r>
              <a:rPr lang="en-US" b="true" sz="5011" spc="48">
                <a:solidFill>
                  <a:srgbClr val="42BBE6"/>
                </a:solidFill>
                <a:latin typeface="Inter Heavy"/>
                <a:ea typeface="Inter Heavy"/>
                <a:cs typeface="Inter Heavy"/>
                <a:sym typeface="Inter Heavy"/>
              </a:rPr>
              <a:t>M3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05479" y="4342384"/>
            <a:ext cx="2959108" cy="100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 spc="19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207 multioutput forests</a:t>
            </a:r>
          </a:p>
          <a:p>
            <a:pPr algn="l">
              <a:lnSpc>
                <a:spcPts val="2775"/>
              </a:lnSpc>
            </a:pPr>
            <a:r>
              <a:rPr lang="en-US" sz="1982" spc="19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selected 48 trees</a:t>
            </a:r>
          </a:p>
          <a:p>
            <a:pPr algn="l">
              <a:lnSpc>
                <a:spcPts val="2775"/>
              </a:lnSpc>
            </a:pPr>
            <a:r>
              <a:rPr lang="en-US" sz="1982" spc="19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depth 12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144000" y="5783021"/>
            <a:ext cx="3707914" cy="218640"/>
          </a:xfrm>
          <a:custGeom>
            <a:avLst/>
            <a:gdLst/>
            <a:ahLst/>
            <a:cxnLst/>
            <a:rect r="r" b="b" t="t" l="l"/>
            <a:pathLst>
              <a:path h="218640" w="3707914">
                <a:moveTo>
                  <a:pt x="0" y="0"/>
                </a:moveTo>
                <a:lnTo>
                  <a:pt x="3707914" y="0"/>
                </a:lnTo>
                <a:lnTo>
                  <a:pt x="370791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114538" y="6530272"/>
            <a:ext cx="2053221" cy="60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738" spc="16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48 trees</a:t>
            </a:r>
          </a:p>
          <a:p>
            <a:pPr algn="l">
              <a:lnSpc>
                <a:spcPts val="2433"/>
              </a:lnSpc>
            </a:pPr>
            <a:r>
              <a:rPr lang="en-US" sz="1738" spc="16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maximum depth 12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059732" y="2569017"/>
            <a:ext cx="4582938" cy="655919"/>
          </a:xfrm>
          <a:custGeom>
            <a:avLst/>
            <a:gdLst/>
            <a:ahLst/>
            <a:cxnLst/>
            <a:rect r="r" b="b" t="t" l="l"/>
            <a:pathLst>
              <a:path h="655919" w="4582938">
                <a:moveTo>
                  <a:pt x="0" y="0"/>
                </a:moveTo>
                <a:lnTo>
                  <a:pt x="4582938" y="0"/>
                </a:lnTo>
                <a:lnTo>
                  <a:pt x="458293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408600" y="2750570"/>
            <a:ext cx="1272007" cy="32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7"/>
              </a:lnSpc>
            </a:pPr>
            <a:r>
              <a:rPr lang="en-US" b="true" sz="1983" spc="1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XGBOOST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3059732" y="2995365"/>
            <a:ext cx="4582938" cy="4722618"/>
          </a:xfrm>
          <a:custGeom>
            <a:avLst/>
            <a:gdLst/>
            <a:ahLst/>
            <a:cxnLst/>
            <a:rect r="r" b="b" t="t" l="l"/>
            <a:pathLst>
              <a:path h="4722618" w="4582938">
                <a:moveTo>
                  <a:pt x="0" y="0"/>
                </a:moveTo>
                <a:lnTo>
                  <a:pt x="4582938" y="0"/>
                </a:lnTo>
                <a:lnTo>
                  <a:pt x="4582938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410765" y="3198452"/>
            <a:ext cx="1055545" cy="82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0"/>
              </a:lnSpc>
            </a:pPr>
            <a:r>
              <a:rPr lang="en-US" b="true" sz="4907" spc="47">
                <a:solidFill>
                  <a:srgbClr val="42BBE6"/>
                </a:solidFill>
                <a:latin typeface="Inter Heavy"/>
                <a:ea typeface="Inter Heavy"/>
                <a:cs typeface="Inter Heavy"/>
                <a:sym typeface="Inter Heavy"/>
              </a:rPr>
              <a:t>M4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88129" y="4175156"/>
            <a:ext cx="3319130" cy="120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803" spc="17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2,484 direct sensor×horizon</a:t>
            </a:r>
          </a:p>
          <a:p>
            <a:pPr algn="l">
              <a:lnSpc>
                <a:spcPts val="2524"/>
              </a:lnSpc>
            </a:pPr>
            <a:r>
              <a:rPr lang="en-US" sz="1803" spc="17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regressors</a:t>
            </a:r>
          </a:p>
          <a:p>
            <a:pPr algn="l">
              <a:lnSpc>
                <a:spcPts val="2524"/>
              </a:lnSpc>
            </a:pPr>
            <a:r>
              <a:rPr lang="en-US" sz="1803" spc="17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selected 140 trees</a:t>
            </a:r>
          </a:p>
          <a:p>
            <a:pPr algn="l">
              <a:lnSpc>
                <a:spcPts val="2524"/>
              </a:lnSpc>
            </a:pPr>
            <a:r>
              <a:rPr lang="en-US" sz="1803" spc="17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depth 3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278488" y="5564382"/>
            <a:ext cx="3926670" cy="229572"/>
          </a:xfrm>
          <a:custGeom>
            <a:avLst/>
            <a:gdLst/>
            <a:ahLst/>
            <a:cxnLst/>
            <a:rect r="r" b="b" t="t" l="l"/>
            <a:pathLst>
              <a:path h="229572" w="3926670">
                <a:moveTo>
                  <a:pt x="0" y="0"/>
                </a:moveTo>
                <a:lnTo>
                  <a:pt x="3926670" y="0"/>
                </a:lnTo>
                <a:lnTo>
                  <a:pt x="3926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396491" y="6323620"/>
            <a:ext cx="2482911" cy="113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140 trees</a:t>
            </a:r>
          </a:p>
          <a:p>
            <a:pPr algn="l">
              <a:lnSpc>
                <a:spcPts val="2281"/>
              </a:lnSpc>
            </a:pPr>
            <a:r>
              <a:rPr lang="en-US" sz="1629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maximum depth 3</a:t>
            </a:r>
          </a:p>
          <a:p>
            <a:pPr algn="l">
              <a:lnSpc>
                <a:spcPts val="2281"/>
              </a:lnSpc>
            </a:pPr>
            <a:r>
              <a:rPr lang="en-US" sz="1629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learning rate 0.06</a:t>
            </a:r>
          </a:p>
          <a:p>
            <a:pPr algn="l">
              <a:lnSpc>
                <a:spcPts val="2281"/>
              </a:lnSpc>
            </a:pPr>
            <a:r>
              <a:rPr lang="en-US" sz="1629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absoluteerror objective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426574" y="7925691"/>
            <a:ext cx="2843828" cy="1508614"/>
          </a:xfrm>
          <a:custGeom>
            <a:avLst/>
            <a:gdLst/>
            <a:ahLst/>
            <a:cxnLst/>
            <a:rect r="r" b="b" t="t" l="l"/>
            <a:pathLst>
              <a:path h="1508614" w="2843828">
                <a:moveTo>
                  <a:pt x="0" y="0"/>
                </a:moveTo>
                <a:lnTo>
                  <a:pt x="2843828" y="0"/>
                </a:lnTo>
                <a:lnTo>
                  <a:pt x="2843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43227" y="8077779"/>
            <a:ext cx="870272" cy="76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4437" spc="43" b="true">
                <a:solidFill>
                  <a:srgbClr val="42BBE6"/>
                </a:solidFill>
                <a:latin typeface="Inter Heavy"/>
                <a:ea typeface="Inter Heavy"/>
                <a:cs typeface="Inter Heavy"/>
                <a:sym typeface="Inter Heavy"/>
              </a:rPr>
              <a:t>six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6596" y="8865772"/>
            <a:ext cx="1496622" cy="29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803" spc="1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pilot sensors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3259464" y="7925691"/>
            <a:ext cx="14383206" cy="1508614"/>
          </a:xfrm>
          <a:custGeom>
            <a:avLst/>
            <a:gdLst/>
            <a:ahLst/>
            <a:cxnLst/>
            <a:rect r="r" b="b" t="t" l="l"/>
            <a:pathLst>
              <a:path h="1508614" w="14383206">
                <a:moveTo>
                  <a:pt x="0" y="0"/>
                </a:moveTo>
                <a:lnTo>
                  <a:pt x="14383206" y="0"/>
                </a:lnTo>
                <a:lnTo>
                  <a:pt x="14383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572432" y="8029518"/>
            <a:ext cx="4409111" cy="31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83" spc="18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validation mean absolute error (MAE)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597876" y="8509752"/>
            <a:ext cx="984240" cy="41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480" spc="24" b="true">
                <a:solidFill>
                  <a:srgbClr val="42BBE6"/>
                </a:solidFill>
                <a:latin typeface="Inter Heavy"/>
                <a:ea typeface="Inter Heavy"/>
                <a:cs typeface="Inter Heavy"/>
                <a:sym typeface="Inter Heavy"/>
              </a:rPr>
              <a:t>3.829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592403" y="8978610"/>
            <a:ext cx="1531624" cy="26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602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Random Forest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98251" y="8493754"/>
            <a:ext cx="984240" cy="44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6"/>
              </a:lnSpc>
            </a:pPr>
            <a:r>
              <a:rPr lang="en-US" sz="2626" spc="25" b="true">
                <a:solidFill>
                  <a:srgbClr val="42BBE6"/>
                </a:solidFill>
                <a:latin typeface="Inter Heavy"/>
                <a:ea typeface="Inter Heavy"/>
                <a:cs typeface="Inter Heavy"/>
                <a:sym typeface="Inter Heavy"/>
              </a:rPr>
              <a:t>3.881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0226842" y="813339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1482665" y="8509752"/>
            <a:ext cx="984240" cy="41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480" spc="24" b="true">
                <a:solidFill>
                  <a:srgbClr val="42BBE6"/>
                </a:solidFill>
                <a:latin typeface="Inter Heavy"/>
                <a:ea typeface="Inter Heavy"/>
                <a:cs typeface="Inter Heavy"/>
                <a:sym typeface="Inter Heavy"/>
              </a:rPr>
              <a:t>3.824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83473" y="8970118"/>
            <a:ext cx="903507" cy="28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36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XGBoost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643775" y="8493754"/>
            <a:ext cx="984240" cy="44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6"/>
              </a:lnSpc>
            </a:pPr>
            <a:r>
              <a:rPr lang="en-US" sz="2626" spc="25" b="true">
                <a:solidFill>
                  <a:srgbClr val="42BBE6"/>
                </a:solidFill>
                <a:latin typeface="Inter Heavy"/>
                <a:ea typeface="Inter Heavy"/>
                <a:cs typeface="Inter Heavy"/>
                <a:sym typeface="Inter Heavy"/>
              </a:rPr>
              <a:t>3.413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635048" y="8978610"/>
            <a:ext cx="1856918" cy="26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602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Historical Average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0" y="9642013"/>
            <a:ext cx="18288000" cy="644987"/>
          </a:xfrm>
          <a:custGeom>
            <a:avLst/>
            <a:gdLst/>
            <a:ahLst/>
            <a:cxnLst/>
            <a:rect r="r" b="b" t="t" l="l"/>
            <a:pathLst>
              <a:path h="644987" w="18288000">
                <a:moveTo>
                  <a:pt x="0" y="0"/>
                </a:moveTo>
                <a:lnTo>
                  <a:pt x="18288000" y="0"/>
                </a:lnTo>
                <a:lnTo>
                  <a:pt x="1828800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0" y="9423373"/>
            <a:ext cx="2614134" cy="863627"/>
          </a:xfrm>
          <a:custGeom>
            <a:avLst/>
            <a:gdLst/>
            <a:ahLst/>
            <a:cxnLst/>
            <a:rect r="r" b="b" t="t" l="l"/>
            <a:pathLst>
              <a:path h="863627" w="2614134">
                <a:moveTo>
                  <a:pt x="0" y="0"/>
                </a:moveTo>
                <a:lnTo>
                  <a:pt x="2614134" y="0"/>
                </a:lnTo>
                <a:lnTo>
                  <a:pt x="261413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3400566" y="5890878"/>
            <a:ext cx="2075408" cy="31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83" spc="18" b="true">
                <a:solidFill>
                  <a:srgbClr val="42BBE6"/>
                </a:solidFill>
                <a:latin typeface="Inter Bold"/>
                <a:ea typeface="Inter Bold"/>
                <a:cs typeface="Inter Bold"/>
                <a:sym typeface="Inter Bold"/>
              </a:rPr>
              <a:t>key configuration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14316" y="6131852"/>
            <a:ext cx="2075408" cy="31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83" spc="18" b="true">
                <a:solidFill>
                  <a:srgbClr val="42BBE6"/>
                </a:solidFill>
                <a:latin typeface="Inter Bold"/>
                <a:ea typeface="Inter Bold"/>
                <a:cs typeface="Inter Bold"/>
                <a:sym typeface="Inter Bold"/>
              </a:rPr>
              <a:t>key configuration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589525" y="8978610"/>
            <a:ext cx="1856918" cy="26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602" spc="15" b="true">
                <a:solidFill>
                  <a:srgbClr val="0B2250"/>
                </a:solidFill>
                <a:latin typeface="Inter Bold"/>
                <a:ea typeface="Inter Bold"/>
                <a:cs typeface="Inter Bold"/>
                <a:sym typeface="Inter Bold"/>
              </a:rPr>
              <a:t>Historical Average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811042" y="6139759"/>
            <a:ext cx="1098890" cy="29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803" spc="17" b="true">
                <a:solidFill>
                  <a:srgbClr val="42BBE6"/>
                </a:solidFill>
                <a:latin typeface="Inter Bold"/>
                <a:ea typeface="Inter Bold"/>
                <a:cs typeface="Inter Bold"/>
                <a:sym typeface="Inter Bold"/>
              </a:rPr>
              <a:t>approach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99839" y="6139759"/>
            <a:ext cx="1098890" cy="29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803" spc="17" b="true">
                <a:solidFill>
                  <a:srgbClr val="42BBE6"/>
                </a:solidFill>
                <a:latin typeface="Inter Bold"/>
                <a:ea typeface="Inter Bold"/>
                <a:cs typeface="Inter Bold"/>
                <a:sym typeface="Inter Bold"/>
              </a:rPr>
              <a:t>approach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506399" y="8762463"/>
            <a:ext cx="334284" cy="27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</a:pPr>
            <a:r>
              <a:rPr lang="en-US" sz="1703" spc="16" b="true">
                <a:solidFill>
                  <a:srgbClr val="0B2250"/>
                </a:solidFill>
                <a:latin typeface="Inter Heavy"/>
                <a:ea typeface="Inter Heavy"/>
                <a:cs typeface="Inter Heavy"/>
                <a:sym typeface="Inter Heavy"/>
              </a:rPr>
              <a:t>VS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98345" y="8762463"/>
            <a:ext cx="334284" cy="27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</a:pPr>
            <a:r>
              <a:rPr lang="en-US" sz="1703" spc="16" b="true">
                <a:solidFill>
                  <a:srgbClr val="0B2250"/>
                </a:solidFill>
                <a:latin typeface="Inter Heavy"/>
                <a:ea typeface="Inter Heavy"/>
                <a:cs typeface="Inter Heavy"/>
                <a:sym typeface="Inter Heavy"/>
              </a:rPr>
              <a:t>VS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42670"/>
            <a:ext cx="13716000" cy="437279"/>
          </a:xfrm>
          <a:custGeom>
            <a:avLst/>
            <a:gdLst/>
            <a:ahLst/>
            <a:cxnLst/>
            <a:rect r="r" b="b" t="t" l="l"/>
            <a:pathLst>
              <a:path h="437279" w="13716000">
                <a:moveTo>
                  <a:pt x="0" y="0"/>
                </a:moveTo>
                <a:lnTo>
                  <a:pt x="13716000" y="0"/>
                </a:lnTo>
                <a:lnTo>
                  <a:pt x="1371600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78488" y="1279043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1330" y="0"/>
            <a:ext cx="3062584" cy="1508614"/>
          </a:xfrm>
          <a:custGeom>
            <a:avLst/>
            <a:gdLst/>
            <a:ahLst/>
            <a:cxnLst/>
            <a:rect r="r" b="b" t="t" l="l"/>
            <a:pathLst>
              <a:path h="1508614" w="3062584">
                <a:moveTo>
                  <a:pt x="0" y="0"/>
                </a:moveTo>
                <a:lnTo>
                  <a:pt x="3062584" y="0"/>
                </a:lnTo>
                <a:lnTo>
                  <a:pt x="3062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92622" y="0"/>
            <a:ext cx="2395378" cy="1508614"/>
          </a:xfrm>
          <a:custGeom>
            <a:avLst/>
            <a:gdLst/>
            <a:ahLst/>
            <a:cxnLst/>
            <a:rect r="r" b="b" t="t" l="l"/>
            <a:pathLst>
              <a:path h="1508614" w="2395378">
                <a:moveTo>
                  <a:pt x="0" y="0"/>
                </a:moveTo>
                <a:lnTo>
                  <a:pt x="2395378" y="0"/>
                </a:lnTo>
                <a:lnTo>
                  <a:pt x="239537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6574" y="2776725"/>
            <a:ext cx="4582938" cy="2153601"/>
          </a:xfrm>
          <a:custGeom>
            <a:avLst/>
            <a:gdLst/>
            <a:ahLst/>
            <a:cxnLst/>
            <a:rect r="r" b="b" t="t" l="l"/>
            <a:pathLst>
              <a:path h="2153601" w="4582938">
                <a:moveTo>
                  <a:pt x="0" y="0"/>
                </a:moveTo>
                <a:lnTo>
                  <a:pt x="4582938" y="0"/>
                </a:lnTo>
                <a:lnTo>
                  <a:pt x="458293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53244" y="2776725"/>
            <a:ext cx="5009512" cy="2153601"/>
          </a:xfrm>
          <a:custGeom>
            <a:avLst/>
            <a:gdLst/>
            <a:ahLst/>
            <a:cxnLst/>
            <a:rect r="r" b="b" t="t" l="l"/>
            <a:pathLst>
              <a:path h="2153601" w="5009512">
                <a:moveTo>
                  <a:pt x="0" y="0"/>
                </a:moveTo>
                <a:lnTo>
                  <a:pt x="5009512" y="0"/>
                </a:lnTo>
                <a:lnTo>
                  <a:pt x="500951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06488" y="2776725"/>
            <a:ext cx="4801694" cy="2153601"/>
          </a:xfrm>
          <a:custGeom>
            <a:avLst/>
            <a:gdLst/>
            <a:ahLst/>
            <a:cxnLst/>
            <a:rect r="r" b="b" t="t" l="l"/>
            <a:pathLst>
              <a:path h="2153601" w="4801694">
                <a:moveTo>
                  <a:pt x="0" y="0"/>
                </a:moveTo>
                <a:lnTo>
                  <a:pt x="4801694" y="0"/>
                </a:lnTo>
                <a:lnTo>
                  <a:pt x="4801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40976" y="2776725"/>
            <a:ext cx="4801694" cy="2153601"/>
          </a:xfrm>
          <a:custGeom>
            <a:avLst/>
            <a:gdLst/>
            <a:ahLst/>
            <a:cxnLst/>
            <a:rect r="r" b="b" t="t" l="l"/>
            <a:pathLst>
              <a:path h="2153601" w="4801694">
                <a:moveTo>
                  <a:pt x="0" y="0"/>
                </a:moveTo>
                <a:lnTo>
                  <a:pt x="4801694" y="0"/>
                </a:lnTo>
                <a:lnTo>
                  <a:pt x="4801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6574" y="5138034"/>
            <a:ext cx="6114230" cy="229572"/>
          </a:xfrm>
          <a:custGeom>
            <a:avLst/>
            <a:gdLst/>
            <a:ahLst/>
            <a:cxnLst/>
            <a:rect r="r" b="b" t="t" l="l"/>
            <a:pathLst>
              <a:path h="229572" w="6114230">
                <a:moveTo>
                  <a:pt x="0" y="0"/>
                </a:moveTo>
                <a:lnTo>
                  <a:pt x="6114230" y="0"/>
                </a:lnTo>
                <a:lnTo>
                  <a:pt x="6114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11110" y="5138034"/>
            <a:ext cx="4801694" cy="229572"/>
          </a:xfrm>
          <a:custGeom>
            <a:avLst/>
            <a:gdLst/>
            <a:ahLst/>
            <a:cxnLst/>
            <a:rect r="r" b="b" t="t" l="l"/>
            <a:pathLst>
              <a:path h="229572" w="4801694">
                <a:moveTo>
                  <a:pt x="0" y="0"/>
                </a:moveTo>
                <a:lnTo>
                  <a:pt x="4801694" y="0"/>
                </a:lnTo>
                <a:lnTo>
                  <a:pt x="4801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83110" y="5138034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384440" y="4919394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529866" y="4919394"/>
            <a:ext cx="656268" cy="448211"/>
          </a:xfrm>
          <a:custGeom>
            <a:avLst/>
            <a:gdLst/>
            <a:ahLst/>
            <a:cxnLst/>
            <a:rect r="r" b="b" t="t" l="l"/>
            <a:pathLst>
              <a:path h="448211" w="656268">
                <a:moveTo>
                  <a:pt x="0" y="0"/>
                </a:moveTo>
                <a:lnTo>
                  <a:pt x="656268" y="0"/>
                </a:lnTo>
                <a:lnTo>
                  <a:pt x="65626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83110" y="4919394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236354" y="4919394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412976" y="4919394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6574" y="5990729"/>
            <a:ext cx="8072096" cy="1519546"/>
          </a:xfrm>
          <a:custGeom>
            <a:avLst/>
            <a:gdLst/>
            <a:ahLst/>
            <a:cxnLst/>
            <a:rect r="r" b="b" t="t" l="l"/>
            <a:pathLst>
              <a:path h="1519546" w="8072096">
                <a:moveTo>
                  <a:pt x="0" y="0"/>
                </a:moveTo>
                <a:lnTo>
                  <a:pt x="8072096" y="0"/>
                </a:lnTo>
                <a:lnTo>
                  <a:pt x="807209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26574" y="8570678"/>
            <a:ext cx="17216096" cy="863627"/>
          </a:xfrm>
          <a:custGeom>
            <a:avLst/>
            <a:gdLst/>
            <a:ahLst/>
            <a:cxnLst/>
            <a:rect r="r" b="b" t="t" l="l"/>
            <a:pathLst>
              <a:path h="863627" w="17216096">
                <a:moveTo>
                  <a:pt x="0" y="0"/>
                </a:moveTo>
                <a:lnTo>
                  <a:pt x="17216096" y="0"/>
                </a:lnTo>
                <a:lnTo>
                  <a:pt x="1721609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050220" y="8778386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0" y="9423373"/>
            <a:ext cx="2614134" cy="863627"/>
          </a:xfrm>
          <a:custGeom>
            <a:avLst/>
            <a:gdLst/>
            <a:ahLst/>
            <a:cxnLst/>
            <a:rect r="r" b="b" t="t" l="l"/>
            <a:pathLst>
              <a:path h="863627" w="2614134">
                <a:moveTo>
                  <a:pt x="0" y="0"/>
                </a:moveTo>
                <a:lnTo>
                  <a:pt x="2614134" y="0"/>
                </a:lnTo>
                <a:lnTo>
                  <a:pt x="261413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39110" y="9642013"/>
            <a:ext cx="16548890" cy="644987"/>
          </a:xfrm>
          <a:custGeom>
            <a:avLst/>
            <a:gdLst/>
            <a:ahLst/>
            <a:cxnLst/>
            <a:rect r="r" b="b" t="t" l="l"/>
            <a:pathLst>
              <a:path h="644987" w="16548890">
                <a:moveTo>
                  <a:pt x="0" y="0"/>
                </a:moveTo>
                <a:lnTo>
                  <a:pt x="16548890" y="0"/>
                </a:lnTo>
                <a:lnTo>
                  <a:pt x="1654889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73217" y="562769"/>
            <a:ext cx="13577508" cy="74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4957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05 — Chronological Experiment &amp; Evaluation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5866" y="1512806"/>
            <a:ext cx="5991549" cy="3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230" b="true">
                <a:solidFill>
                  <a:srgbClr val="5D5D5D"/>
                </a:solidFill>
                <a:latin typeface="Inter Bold"/>
                <a:ea typeface="Inter Bold"/>
                <a:cs typeface="Inter Bold"/>
                <a:sym typeface="Inter Bold"/>
              </a:rPr>
              <a:t>Data split timeline and evaluation approach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90207" y="3064072"/>
            <a:ext cx="1153443" cy="3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Training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06822" y="3536634"/>
            <a:ext cx="1920212" cy="67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2"/>
              </a:lnSpc>
            </a:pPr>
            <a:r>
              <a:rPr lang="en-US" sz="4287" b="true">
                <a:solidFill>
                  <a:srgbClr val="48B6E1"/>
                </a:solidFill>
                <a:latin typeface="Inter Bold"/>
                <a:ea typeface="Inter Bold"/>
                <a:cs typeface="Inter Bold"/>
                <a:sym typeface="Inter Bold"/>
              </a:rPr>
              <a:t>23,963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72403" y="4254108"/>
            <a:ext cx="1789049" cy="28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83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forecast origins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21601" y="3064072"/>
            <a:ext cx="2399932" cy="3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Tuning validation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48602" y="3494125"/>
            <a:ext cx="1566290" cy="75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9"/>
              </a:lnSpc>
            </a:pPr>
            <a:r>
              <a:rPr lang="en-US" sz="4716" b="true">
                <a:solidFill>
                  <a:srgbClr val="48B6E1"/>
                </a:solidFill>
                <a:latin typeface="Inter Bold"/>
                <a:ea typeface="Inter Bold"/>
                <a:cs typeface="Inter Bold"/>
                <a:sym typeface="Inter Bold"/>
              </a:rPr>
              <a:t>1,701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937222" y="4254108"/>
            <a:ext cx="1789049" cy="28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83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forecast origins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72168" y="3064072"/>
            <a:ext cx="2471297" cy="3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Second validation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33780" y="3494125"/>
            <a:ext cx="1566290" cy="75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9"/>
              </a:lnSpc>
            </a:pPr>
            <a:r>
              <a:rPr lang="en-US" sz="4716" b="true">
                <a:solidFill>
                  <a:srgbClr val="48B6E1"/>
                </a:solidFill>
                <a:latin typeface="Inter Bold"/>
                <a:ea typeface="Inter Bold"/>
                <a:cs typeface="Inter Bold"/>
                <a:sym typeface="Inter Bold"/>
              </a:rPr>
              <a:t>1,702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22401" y="4254108"/>
            <a:ext cx="1789049" cy="28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83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forecast origins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077291" y="3064072"/>
            <a:ext cx="620158" cy="3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230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Test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04224" y="3552975"/>
            <a:ext cx="1566290" cy="64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3"/>
              </a:lnSpc>
            </a:pPr>
            <a:r>
              <a:rPr lang="en-US" sz="4049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6,850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492845" y="4254108"/>
            <a:ext cx="1789049" cy="28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834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forecast origins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22828" y="6319918"/>
            <a:ext cx="5042419" cy="46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6"/>
              </a:lnSpc>
            </a:pPr>
            <a:r>
              <a:rPr lang="en-US" sz="2859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Purge last </a:t>
            </a:r>
            <a:r>
              <a:rPr lang="en-US" sz="2859" b="true">
                <a:solidFill>
                  <a:srgbClr val="48B6E1"/>
                </a:solidFill>
                <a:latin typeface="Inter Bold"/>
                <a:ea typeface="Inter Bold"/>
                <a:cs typeface="Inter Bold"/>
                <a:sym typeface="Inter Bold"/>
              </a:rPr>
              <a:t>11</a:t>
            </a:r>
            <a:r>
              <a:rPr lang="en-US" sz="2859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 forecast origins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2009" y="6949827"/>
            <a:ext cx="6544058" cy="33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0"/>
              </a:lnSpc>
            </a:pPr>
            <a:r>
              <a:rPr lang="en-US" sz="2131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at earlier boundaries to avoid future-label overlap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470706" y="8822725"/>
            <a:ext cx="4213554" cy="42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643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Test inspected previously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536953" y="8877557"/>
            <a:ext cx="6233650" cy="3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230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results are exploratory, not a pristine holdout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28179" y="5835267"/>
            <a:ext cx="5547094" cy="3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230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Same observed targets used for scoring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8706488" y="6209369"/>
            <a:ext cx="3051646" cy="1934962"/>
          </a:xfrm>
          <a:custGeom>
            <a:avLst/>
            <a:gdLst/>
            <a:ahLst/>
            <a:cxnLst/>
            <a:rect r="r" b="b" t="t" l="l"/>
            <a:pathLst>
              <a:path h="1934962" w="3051646">
                <a:moveTo>
                  <a:pt x="0" y="0"/>
                </a:moveTo>
                <a:lnTo>
                  <a:pt x="3051646" y="0"/>
                </a:lnTo>
                <a:lnTo>
                  <a:pt x="305164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9594927" y="6502220"/>
            <a:ext cx="1154296" cy="63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4"/>
              </a:lnSpc>
            </a:pPr>
            <a:r>
              <a:rPr lang="en-US" b="true" sz="3965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MAE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89015" y="7263481"/>
            <a:ext cx="1766120" cy="645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2036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mean absolute error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1747196" y="6209369"/>
            <a:ext cx="2843828" cy="1934962"/>
          </a:xfrm>
          <a:custGeom>
            <a:avLst/>
            <a:gdLst/>
            <a:ahLst/>
            <a:cxnLst/>
            <a:rect r="r" b="b" t="t" l="l"/>
            <a:pathLst>
              <a:path h="1934962" w="2843828">
                <a:moveTo>
                  <a:pt x="0" y="0"/>
                </a:moveTo>
                <a:lnTo>
                  <a:pt x="2843828" y="0"/>
                </a:lnTo>
                <a:lnTo>
                  <a:pt x="284382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2417177" y="6493829"/>
            <a:ext cx="1471434" cy="64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b="true" sz="4050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RMSE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98602" y="7263481"/>
            <a:ext cx="2257149" cy="645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2036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root mean squared error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4580086" y="6209369"/>
            <a:ext cx="3062584" cy="1934962"/>
          </a:xfrm>
          <a:custGeom>
            <a:avLst/>
            <a:gdLst/>
            <a:ahLst/>
            <a:cxnLst/>
            <a:rect r="r" b="b" t="t" l="l"/>
            <a:pathLst>
              <a:path h="1934962" w="3062584">
                <a:moveTo>
                  <a:pt x="0" y="0"/>
                </a:moveTo>
                <a:lnTo>
                  <a:pt x="3062584" y="0"/>
                </a:lnTo>
                <a:lnTo>
                  <a:pt x="306258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5334702" y="6493829"/>
            <a:ext cx="1506938" cy="64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b="true" sz="4050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MAPE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101151" y="7280159"/>
            <a:ext cx="2003509" cy="61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sz="1850" b="true">
                <a:solidFill>
                  <a:srgbClr val="112856"/>
                </a:solidFill>
                <a:latin typeface="Inter Bold"/>
                <a:ea typeface="Inter Bold"/>
                <a:cs typeface="Inter Bold"/>
                <a:sym typeface="Inter Bold"/>
              </a:rPr>
              <a:t>mean absolute percentage error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42670"/>
            <a:ext cx="13716000" cy="437279"/>
          </a:xfrm>
          <a:custGeom>
            <a:avLst/>
            <a:gdLst/>
            <a:ahLst/>
            <a:cxnLst/>
            <a:rect r="r" b="b" t="t" l="l"/>
            <a:pathLst>
              <a:path h="437279" w="13716000">
                <a:moveTo>
                  <a:pt x="0" y="0"/>
                </a:moveTo>
                <a:lnTo>
                  <a:pt x="13716000" y="0"/>
                </a:lnTo>
                <a:lnTo>
                  <a:pt x="1371600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78488" y="0"/>
            <a:ext cx="4145426" cy="2579949"/>
          </a:xfrm>
          <a:custGeom>
            <a:avLst/>
            <a:gdLst/>
            <a:ahLst/>
            <a:cxnLst/>
            <a:rect r="r" b="b" t="t" l="l"/>
            <a:pathLst>
              <a:path h="2579949" w="4145426">
                <a:moveTo>
                  <a:pt x="0" y="0"/>
                </a:moveTo>
                <a:lnTo>
                  <a:pt x="4145426" y="0"/>
                </a:lnTo>
                <a:lnTo>
                  <a:pt x="414542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2622" y="0"/>
            <a:ext cx="2395378" cy="1508614"/>
          </a:xfrm>
          <a:custGeom>
            <a:avLst/>
            <a:gdLst/>
            <a:ahLst/>
            <a:cxnLst/>
            <a:rect r="r" b="b" t="t" l="l"/>
            <a:pathLst>
              <a:path h="1508614" w="2395378">
                <a:moveTo>
                  <a:pt x="0" y="0"/>
                </a:moveTo>
                <a:lnTo>
                  <a:pt x="2395378" y="0"/>
                </a:lnTo>
                <a:lnTo>
                  <a:pt x="239537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4352" y="314900"/>
            <a:ext cx="3179648" cy="114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7"/>
              </a:lnSpc>
            </a:pPr>
            <a:r>
              <a:rPr lang="en-US" sz="6769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477" y="1518936"/>
            <a:ext cx="8067145" cy="42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461" b="true">
                <a:solidFill>
                  <a:srgbClr val="606060"/>
                </a:solidFill>
                <a:latin typeface="Inter Bold"/>
                <a:ea typeface="Inter Bold"/>
                <a:cs typeface="Inter Bold"/>
                <a:sym typeface="Inter Bold"/>
              </a:rPr>
              <a:t>MAE and RMSE across forecast horizons and models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6574" y="2776725"/>
            <a:ext cx="7415828" cy="1519546"/>
          </a:xfrm>
          <a:custGeom>
            <a:avLst/>
            <a:gdLst/>
            <a:ahLst/>
            <a:cxnLst/>
            <a:rect r="r" b="b" t="t" l="l"/>
            <a:pathLst>
              <a:path h="1519546" w="7415828">
                <a:moveTo>
                  <a:pt x="0" y="0"/>
                </a:moveTo>
                <a:lnTo>
                  <a:pt x="7415828" y="0"/>
                </a:lnTo>
                <a:lnTo>
                  <a:pt x="741582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12708" y="2776725"/>
            <a:ext cx="4801694" cy="874559"/>
          </a:xfrm>
          <a:custGeom>
            <a:avLst/>
            <a:gdLst/>
            <a:ahLst/>
            <a:cxnLst/>
            <a:rect r="r" b="b" t="t" l="l"/>
            <a:pathLst>
              <a:path h="874559" w="4801694">
                <a:moveTo>
                  <a:pt x="0" y="0"/>
                </a:moveTo>
                <a:lnTo>
                  <a:pt x="4801694" y="0"/>
                </a:lnTo>
                <a:lnTo>
                  <a:pt x="4801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6574" y="8570678"/>
            <a:ext cx="11987828" cy="1082267"/>
          </a:xfrm>
          <a:custGeom>
            <a:avLst/>
            <a:gdLst/>
            <a:ahLst/>
            <a:cxnLst/>
            <a:rect r="r" b="b" t="t" l="l"/>
            <a:pathLst>
              <a:path h="1082267" w="11987828">
                <a:moveTo>
                  <a:pt x="0" y="0"/>
                </a:moveTo>
                <a:lnTo>
                  <a:pt x="11987828" y="0"/>
                </a:lnTo>
                <a:lnTo>
                  <a:pt x="11987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68641" y="5661047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4.187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83516" y="5661047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6.021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0828" y="6670123"/>
            <a:ext cx="241101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Random Forest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21844" y="6670123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2.972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95242" y="6670123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3.423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8641" y="6670123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3.896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75984" y="6670123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3.982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56539" y="6670123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4.615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3516" y="6670123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5.487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21844" y="7709321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2.920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95242" y="7709321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3.376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68641" y="7709321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3.874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75984" y="7709321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4.046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56539" y="7709321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4.701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83516" y="7709321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5.592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5378" y="9023533"/>
            <a:ext cx="5545023" cy="31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83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results are exploratory and for comparison only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040708" y="3421712"/>
            <a:ext cx="4801694" cy="1082267"/>
          </a:xfrm>
          <a:custGeom>
            <a:avLst/>
            <a:gdLst/>
            <a:ahLst/>
            <a:cxnLst/>
            <a:rect r="r" b="b" t="t" l="l"/>
            <a:pathLst>
              <a:path h="1082267" w="4801694">
                <a:moveTo>
                  <a:pt x="0" y="0"/>
                </a:moveTo>
                <a:lnTo>
                  <a:pt x="4801694" y="0"/>
                </a:lnTo>
                <a:lnTo>
                  <a:pt x="4801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321844" y="371819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15 min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95242" y="371819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30 min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68641" y="371819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60 min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75984" y="371819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15 min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56539" y="371819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30 min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83516" y="371819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60 min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426574" y="4285339"/>
            <a:ext cx="7415828" cy="218640"/>
          </a:xfrm>
          <a:custGeom>
            <a:avLst/>
            <a:gdLst/>
            <a:ahLst/>
            <a:cxnLst/>
            <a:rect r="r" b="b" t="t" l="l"/>
            <a:pathLst>
              <a:path h="218640" w="7415828">
                <a:moveTo>
                  <a:pt x="0" y="0"/>
                </a:moveTo>
                <a:lnTo>
                  <a:pt x="7415828" y="0"/>
                </a:lnTo>
                <a:lnTo>
                  <a:pt x="741582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612708" y="4285339"/>
            <a:ext cx="4801694" cy="218640"/>
          </a:xfrm>
          <a:custGeom>
            <a:avLst/>
            <a:gdLst/>
            <a:ahLst/>
            <a:cxnLst/>
            <a:rect r="r" b="b" t="t" l="l"/>
            <a:pathLst>
              <a:path h="218640" w="4801694">
                <a:moveTo>
                  <a:pt x="0" y="0"/>
                </a:moveTo>
                <a:lnTo>
                  <a:pt x="4801694" y="0"/>
                </a:lnTo>
                <a:lnTo>
                  <a:pt x="480169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26574" y="5138034"/>
            <a:ext cx="7415828" cy="229572"/>
          </a:xfrm>
          <a:custGeom>
            <a:avLst/>
            <a:gdLst/>
            <a:ahLst/>
            <a:cxnLst/>
            <a:rect r="r" b="b" t="t" l="l"/>
            <a:pathLst>
              <a:path h="229572" w="7415828">
                <a:moveTo>
                  <a:pt x="0" y="0"/>
                </a:moveTo>
                <a:lnTo>
                  <a:pt x="7415828" y="0"/>
                </a:lnTo>
                <a:lnTo>
                  <a:pt x="7415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612708" y="5138034"/>
            <a:ext cx="4801694" cy="229572"/>
          </a:xfrm>
          <a:custGeom>
            <a:avLst/>
            <a:gdLst/>
            <a:ahLst/>
            <a:cxnLst/>
            <a:rect r="r" b="b" t="t" l="l"/>
            <a:pathLst>
              <a:path h="229572" w="4801694">
                <a:moveTo>
                  <a:pt x="0" y="0"/>
                </a:moveTo>
                <a:lnTo>
                  <a:pt x="4801694" y="0"/>
                </a:lnTo>
                <a:lnTo>
                  <a:pt x="4801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26574" y="6209369"/>
            <a:ext cx="7415828" cy="229572"/>
          </a:xfrm>
          <a:custGeom>
            <a:avLst/>
            <a:gdLst/>
            <a:ahLst/>
            <a:cxnLst/>
            <a:rect r="r" b="b" t="t" l="l"/>
            <a:pathLst>
              <a:path h="229572" w="7415828">
                <a:moveTo>
                  <a:pt x="0" y="0"/>
                </a:moveTo>
                <a:lnTo>
                  <a:pt x="7415828" y="0"/>
                </a:lnTo>
                <a:lnTo>
                  <a:pt x="741582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7612708" y="6209369"/>
            <a:ext cx="4801694" cy="229572"/>
          </a:xfrm>
          <a:custGeom>
            <a:avLst/>
            <a:gdLst/>
            <a:ahLst/>
            <a:cxnLst/>
            <a:rect r="r" b="b" t="t" l="l"/>
            <a:pathLst>
              <a:path h="229572" w="4801694">
                <a:moveTo>
                  <a:pt x="0" y="0"/>
                </a:moveTo>
                <a:lnTo>
                  <a:pt x="4801694" y="0"/>
                </a:lnTo>
                <a:lnTo>
                  <a:pt x="4801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26574" y="7280704"/>
            <a:ext cx="7415828" cy="229572"/>
          </a:xfrm>
          <a:custGeom>
            <a:avLst/>
            <a:gdLst/>
            <a:ahLst/>
            <a:cxnLst/>
            <a:rect r="r" b="b" t="t" l="l"/>
            <a:pathLst>
              <a:path h="229572" w="7415828">
                <a:moveTo>
                  <a:pt x="0" y="0"/>
                </a:moveTo>
                <a:lnTo>
                  <a:pt x="7415828" y="0"/>
                </a:lnTo>
                <a:lnTo>
                  <a:pt x="741582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612708" y="7280704"/>
            <a:ext cx="4801694" cy="229572"/>
          </a:xfrm>
          <a:custGeom>
            <a:avLst/>
            <a:gdLst/>
            <a:ahLst/>
            <a:cxnLst/>
            <a:rect r="r" b="b" t="t" l="l"/>
            <a:pathLst>
              <a:path h="229572" w="4801694">
                <a:moveTo>
                  <a:pt x="0" y="0"/>
                </a:moveTo>
                <a:lnTo>
                  <a:pt x="4801694" y="0"/>
                </a:lnTo>
                <a:lnTo>
                  <a:pt x="4801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426574" y="8352038"/>
            <a:ext cx="7415828" cy="229572"/>
          </a:xfrm>
          <a:custGeom>
            <a:avLst/>
            <a:gdLst/>
            <a:ahLst/>
            <a:cxnLst/>
            <a:rect r="r" b="b" t="t" l="l"/>
            <a:pathLst>
              <a:path h="229572" w="7415828">
                <a:moveTo>
                  <a:pt x="0" y="0"/>
                </a:moveTo>
                <a:lnTo>
                  <a:pt x="7415828" y="0"/>
                </a:lnTo>
                <a:lnTo>
                  <a:pt x="7415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7612708" y="8352038"/>
            <a:ext cx="4801694" cy="229572"/>
          </a:xfrm>
          <a:custGeom>
            <a:avLst/>
            <a:gdLst/>
            <a:ahLst/>
            <a:cxnLst/>
            <a:rect r="r" b="b" t="t" l="l"/>
            <a:pathLst>
              <a:path h="229572" w="4801694">
                <a:moveTo>
                  <a:pt x="0" y="0"/>
                </a:moveTo>
                <a:lnTo>
                  <a:pt x="4801694" y="0"/>
                </a:lnTo>
                <a:lnTo>
                  <a:pt x="4801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059732" y="2776725"/>
            <a:ext cx="229694" cy="6876220"/>
          </a:xfrm>
          <a:custGeom>
            <a:avLst/>
            <a:gdLst/>
            <a:ahLst/>
            <a:cxnLst/>
            <a:rect r="r" b="b" t="t" l="l"/>
            <a:pathLst>
              <a:path h="6876220" w="229694">
                <a:moveTo>
                  <a:pt x="0" y="0"/>
                </a:moveTo>
                <a:lnTo>
                  <a:pt x="229694" y="0"/>
                </a:lnTo>
                <a:lnTo>
                  <a:pt x="229694" y="6876220"/>
                </a:lnTo>
                <a:lnTo>
                  <a:pt x="0" y="687622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3799532" y="2977801"/>
            <a:ext cx="2362449" cy="96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6"/>
              </a:lnSpc>
            </a:pPr>
            <a:r>
              <a:rPr lang="en-US" sz="5632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27.2%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95516" y="4051947"/>
            <a:ext cx="2764014" cy="127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461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lower 60 min MAE</a:t>
            </a:r>
          </a:p>
          <a:p>
            <a:pPr algn="l">
              <a:lnSpc>
                <a:spcPts val="3446"/>
              </a:lnSpc>
            </a:pPr>
            <a:r>
              <a:rPr lang="en-US" sz="2461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with XGBoost vs</a:t>
            </a:r>
          </a:p>
          <a:p>
            <a:pPr algn="l">
              <a:lnSpc>
                <a:spcPts val="3446"/>
              </a:lnSpc>
            </a:pPr>
            <a:r>
              <a:rPr lang="en-US" sz="2461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persistence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88264" y="6374063"/>
            <a:ext cx="3489194" cy="92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1"/>
              </a:lnSpc>
            </a:pPr>
            <a:r>
              <a:rPr lang="en-US" sz="5501" spc="-163" b="true">
                <a:solidFill>
                  <a:srgbClr val="2BADDC"/>
                </a:solidFill>
                <a:latin typeface="Inter Bold"/>
                <a:ea typeface="Inter Bold"/>
                <a:cs typeface="Inter Bold"/>
                <a:sym typeface="Inter Bold"/>
              </a:rPr>
              <a:t>Best RMSE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89546" y="7485819"/>
            <a:ext cx="3361035" cy="127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461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random forest has the lowest pooled RMSE at all three horizons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3716000" y="5783021"/>
            <a:ext cx="3707914" cy="218640"/>
          </a:xfrm>
          <a:custGeom>
            <a:avLst/>
            <a:gdLst/>
            <a:ahLst/>
            <a:cxnLst/>
            <a:rect r="r" b="b" t="t" l="l"/>
            <a:pathLst>
              <a:path h="218640" w="3707914">
                <a:moveTo>
                  <a:pt x="0" y="0"/>
                </a:moveTo>
                <a:lnTo>
                  <a:pt x="3707914" y="0"/>
                </a:lnTo>
                <a:lnTo>
                  <a:pt x="370791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910828" y="5668830"/>
            <a:ext cx="2411016" cy="36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6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Historical average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331398" y="2950096"/>
            <a:ext cx="3482578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RMSE (mph)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589734" y="2950096"/>
            <a:ext cx="3482578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MAE (mph)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0828" y="4621849"/>
            <a:ext cx="241101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Persistence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0828" y="7709321"/>
            <a:ext cx="241101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XGBoost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983516" y="462184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7.645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875984" y="462184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5.214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875984" y="5661047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6.021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0828" y="3462164"/>
            <a:ext cx="241101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268641" y="462184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5.321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456539" y="462184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6.178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456539" y="5661047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6.021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321844" y="462184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3.482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795242" y="5661047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4.187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321844" y="5661047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4.187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795242" y="4621849"/>
            <a:ext cx="1259086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B1F50"/>
                </a:solidFill>
                <a:latin typeface="Inter Bold"/>
                <a:ea typeface="Inter Bold"/>
                <a:cs typeface="Inter Bold"/>
                <a:sym typeface="Inter Bold"/>
              </a:rPr>
              <a:t>4.173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42670"/>
            <a:ext cx="13716000" cy="437279"/>
          </a:xfrm>
          <a:custGeom>
            <a:avLst/>
            <a:gdLst/>
            <a:ahLst/>
            <a:cxnLst/>
            <a:rect r="r" b="b" t="t" l="l"/>
            <a:pathLst>
              <a:path h="437279" w="13716000">
                <a:moveTo>
                  <a:pt x="0" y="0"/>
                </a:moveTo>
                <a:lnTo>
                  <a:pt x="13716000" y="0"/>
                </a:lnTo>
                <a:lnTo>
                  <a:pt x="1371600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78488" y="1279043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1330" y="0"/>
            <a:ext cx="3062584" cy="1508614"/>
          </a:xfrm>
          <a:custGeom>
            <a:avLst/>
            <a:gdLst/>
            <a:ahLst/>
            <a:cxnLst/>
            <a:rect r="r" b="b" t="t" l="l"/>
            <a:pathLst>
              <a:path h="1508614" w="3062584">
                <a:moveTo>
                  <a:pt x="0" y="0"/>
                </a:moveTo>
                <a:lnTo>
                  <a:pt x="3062584" y="0"/>
                </a:lnTo>
                <a:lnTo>
                  <a:pt x="3062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92622" y="0"/>
            <a:ext cx="2395378" cy="1508614"/>
          </a:xfrm>
          <a:custGeom>
            <a:avLst/>
            <a:gdLst/>
            <a:ahLst/>
            <a:cxnLst/>
            <a:rect r="r" b="b" t="t" l="l"/>
            <a:pathLst>
              <a:path h="1508614" w="2395378">
                <a:moveTo>
                  <a:pt x="0" y="0"/>
                </a:moveTo>
                <a:lnTo>
                  <a:pt x="2395378" y="0"/>
                </a:lnTo>
                <a:lnTo>
                  <a:pt x="239537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2636" y="544923"/>
            <a:ext cx="12672370" cy="91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7"/>
              </a:lnSpc>
            </a:pPr>
            <a:r>
              <a:rPr lang="en-US" sz="6038" b="true">
                <a:solidFill>
                  <a:srgbClr val="0719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07 — Rush Hour &amp; Error Analysis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6574" y="2569017"/>
            <a:ext cx="7415828" cy="655919"/>
          </a:xfrm>
          <a:custGeom>
            <a:avLst/>
            <a:gdLst/>
            <a:ahLst/>
            <a:cxnLst/>
            <a:rect r="r" b="b" t="t" l="l"/>
            <a:pathLst>
              <a:path h="655919" w="7415828">
                <a:moveTo>
                  <a:pt x="0" y="0"/>
                </a:moveTo>
                <a:lnTo>
                  <a:pt x="7415828" y="0"/>
                </a:lnTo>
                <a:lnTo>
                  <a:pt x="7415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6574" y="3214004"/>
            <a:ext cx="1760986" cy="1716322"/>
          </a:xfrm>
          <a:custGeom>
            <a:avLst/>
            <a:gdLst/>
            <a:ahLst/>
            <a:cxnLst/>
            <a:rect r="r" b="b" t="t" l="l"/>
            <a:pathLst>
              <a:path h="1716322" w="1760986">
                <a:moveTo>
                  <a:pt x="0" y="0"/>
                </a:moveTo>
                <a:lnTo>
                  <a:pt x="1760986" y="0"/>
                </a:lnTo>
                <a:lnTo>
                  <a:pt x="1760986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03189" y="3748817"/>
            <a:ext cx="1349680" cy="56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b="true" sz="182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60-MINUTE</a:t>
            </a:r>
          </a:p>
          <a:p>
            <a:pPr algn="ctr">
              <a:lnSpc>
                <a:spcPts val="2375"/>
              </a:lnSpc>
            </a:pPr>
            <a:r>
              <a:rPr lang="en-US" b="true" sz="182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PEAK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176622" y="3214004"/>
            <a:ext cx="2832890" cy="1716322"/>
          </a:xfrm>
          <a:custGeom>
            <a:avLst/>
            <a:gdLst/>
            <a:ahLst/>
            <a:cxnLst/>
            <a:rect r="r" b="b" t="t" l="l"/>
            <a:pathLst>
              <a:path h="1716322" w="2832890">
                <a:moveTo>
                  <a:pt x="0" y="0"/>
                </a:moveTo>
                <a:lnTo>
                  <a:pt x="2832890" y="0"/>
                </a:lnTo>
                <a:lnTo>
                  <a:pt x="283289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54347" y="3368242"/>
            <a:ext cx="1805946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6" b="true">
                <a:solidFill>
                  <a:srgbClr val="071942"/>
                </a:solidFill>
                <a:latin typeface="Inter Bold"/>
                <a:ea typeface="Inter Bold"/>
                <a:cs typeface="Inter Bold"/>
                <a:sym typeface="Inter Bold"/>
              </a:rPr>
              <a:t>Random Forest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1028" y="3728659"/>
            <a:ext cx="1492583" cy="68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sz="4049" b="true">
                <a:solidFill>
                  <a:srgbClr val="48BDE6"/>
                </a:solidFill>
                <a:latin typeface="Inter Bold"/>
                <a:ea typeface="Inter Bold"/>
                <a:cs typeface="Inter Bold"/>
                <a:sym typeface="Inter Bold"/>
              </a:rPr>
              <a:t>5.954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779818" y="3214004"/>
            <a:ext cx="3062584" cy="1716322"/>
          </a:xfrm>
          <a:custGeom>
            <a:avLst/>
            <a:gdLst/>
            <a:ahLst/>
            <a:cxnLst/>
            <a:rect r="r" b="b" t="t" l="l"/>
            <a:pathLst>
              <a:path h="1716322" w="3062584">
                <a:moveTo>
                  <a:pt x="0" y="0"/>
                </a:moveTo>
                <a:lnTo>
                  <a:pt x="3062584" y="0"/>
                </a:lnTo>
                <a:lnTo>
                  <a:pt x="306258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92998" y="3368242"/>
            <a:ext cx="1053619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6" b="true">
                <a:solidFill>
                  <a:srgbClr val="071942"/>
                </a:solidFill>
                <a:latin typeface="Inter Bold"/>
                <a:ea typeface="Inter Bold"/>
                <a:cs typeface="Inter Bold"/>
                <a:sym typeface="Inter Bold"/>
              </a:rPr>
              <a:t>XGBoost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48167" y="3720807"/>
            <a:ext cx="1536852" cy="7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9"/>
              </a:lnSpc>
            </a:pPr>
            <a:r>
              <a:rPr lang="en-US" sz="4134" b="true">
                <a:solidFill>
                  <a:srgbClr val="48BDE6"/>
                </a:solidFill>
                <a:latin typeface="Inter Bold"/>
                <a:ea typeface="Inter Bold"/>
                <a:cs typeface="Inter Bold"/>
                <a:sym typeface="Inter Bold"/>
              </a:rPr>
              <a:t>6.308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26574" y="4919394"/>
            <a:ext cx="1760986" cy="1727254"/>
          </a:xfrm>
          <a:custGeom>
            <a:avLst/>
            <a:gdLst/>
            <a:ahLst/>
            <a:cxnLst/>
            <a:rect r="r" b="b" t="t" l="l"/>
            <a:pathLst>
              <a:path h="1727254" w="1760986">
                <a:moveTo>
                  <a:pt x="0" y="0"/>
                </a:moveTo>
                <a:lnTo>
                  <a:pt x="1760986" y="0"/>
                </a:lnTo>
                <a:lnTo>
                  <a:pt x="176098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03189" y="5495875"/>
            <a:ext cx="1349680" cy="56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b="true" sz="182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60-MINUTE</a:t>
            </a:r>
          </a:p>
          <a:p>
            <a:pPr algn="ctr">
              <a:lnSpc>
                <a:spcPts val="2375"/>
              </a:lnSpc>
            </a:pPr>
            <a:r>
              <a:rPr lang="en-US" b="true" sz="182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OFF-PEAK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176622" y="4919394"/>
            <a:ext cx="2832890" cy="1727254"/>
          </a:xfrm>
          <a:custGeom>
            <a:avLst/>
            <a:gdLst/>
            <a:ahLst/>
            <a:cxnLst/>
            <a:rect r="r" b="b" t="t" l="l"/>
            <a:pathLst>
              <a:path h="1727254" w="2832890">
                <a:moveTo>
                  <a:pt x="0" y="0"/>
                </a:moveTo>
                <a:lnTo>
                  <a:pt x="2832890" y="0"/>
                </a:lnTo>
                <a:lnTo>
                  <a:pt x="283289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654347" y="5070117"/>
            <a:ext cx="1805946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6" b="true">
                <a:solidFill>
                  <a:srgbClr val="071942"/>
                </a:solidFill>
                <a:latin typeface="Inter Bold"/>
                <a:ea typeface="Inter Bold"/>
                <a:cs typeface="Inter Bold"/>
                <a:sym typeface="Inter Bold"/>
              </a:rPr>
              <a:t>Random Forest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27971" y="5475716"/>
            <a:ext cx="1458697" cy="68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sz="4050" b="true">
                <a:solidFill>
                  <a:srgbClr val="48BDE6"/>
                </a:solidFill>
                <a:latin typeface="Inter Bold"/>
                <a:ea typeface="Inter Bold"/>
                <a:cs typeface="Inter Bold"/>
                <a:sym typeface="Inter Bold"/>
              </a:rPr>
              <a:t>3.379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779818" y="4919394"/>
            <a:ext cx="3062584" cy="1727254"/>
          </a:xfrm>
          <a:custGeom>
            <a:avLst/>
            <a:gdLst/>
            <a:ahLst/>
            <a:cxnLst/>
            <a:rect r="r" b="b" t="t" l="l"/>
            <a:pathLst>
              <a:path h="1727254" w="3062584">
                <a:moveTo>
                  <a:pt x="0" y="0"/>
                </a:moveTo>
                <a:lnTo>
                  <a:pt x="3062584" y="0"/>
                </a:lnTo>
                <a:lnTo>
                  <a:pt x="306258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792998" y="5070117"/>
            <a:ext cx="1053619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6" b="true">
                <a:solidFill>
                  <a:srgbClr val="071942"/>
                </a:solidFill>
                <a:latin typeface="Inter Bold"/>
                <a:ea typeface="Inter Bold"/>
                <a:cs typeface="Inter Bold"/>
                <a:sym typeface="Inter Bold"/>
              </a:rPr>
              <a:t>XGBoost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36979" y="5475716"/>
            <a:ext cx="1359228" cy="68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sz="4050" b="true">
                <a:solidFill>
                  <a:srgbClr val="48BDE6"/>
                </a:solidFill>
                <a:latin typeface="Inter Bold"/>
                <a:ea typeface="Inter Bold"/>
                <a:cs typeface="Inter Bold"/>
                <a:sym typeface="Inter Bold"/>
              </a:rPr>
              <a:t>3.261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7831464" y="2569017"/>
            <a:ext cx="10029962" cy="655919"/>
          </a:xfrm>
          <a:custGeom>
            <a:avLst/>
            <a:gdLst/>
            <a:ahLst/>
            <a:cxnLst/>
            <a:rect r="r" b="b" t="t" l="l"/>
            <a:pathLst>
              <a:path h="655919" w="10029962">
                <a:moveTo>
                  <a:pt x="0" y="0"/>
                </a:moveTo>
                <a:lnTo>
                  <a:pt x="10029962" y="0"/>
                </a:lnTo>
                <a:lnTo>
                  <a:pt x="10029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831464" y="3214004"/>
            <a:ext cx="10029962" cy="6220301"/>
          </a:xfrm>
          <a:custGeom>
            <a:avLst/>
            <a:gdLst/>
            <a:ahLst/>
            <a:cxnLst/>
            <a:rect r="r" b="b" t="t" l="l"/>
            <a:pathLst>
              <a:path h="6220301" w="10029962">
                <a:moveTo>
                  <a:pt x="0" y="0"/>
                </a:moveTo>
                <a:lnTo>
                  <a:pt x="10029962" y="0"/>
                </a:lnTo>
                <a:lnTo>
                  <a:pt x="10029962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226842" y="3214004"/>
            <a:ext cx="7415828" cy="4296271"/>
          </a:xfrm>
          <a:custGeom>
            <a:avLst/>
            <a:gdLst/>
            <a:ahLst/>
            <a:cxnLst/>
            <a:rect r="r" b="b" t="t" l="l"/>
            <a:pathLst>
              <a:path h="4296271" w="7415828">
                <a:moveTo>
                  <a:pt x="0" y="0"/>
                </a:moveTo>
                <a:lnTo>
                  <a:pt x="7415828" y="0"/>
                </a:lnTo>
                <a:lnTo>
                  <a:pt x="7415828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664354" y="3640352"/>
            <a:ext cx="667206" cy="218640"/>
          </a:xfrm>
          <a:custGeom>
            <a:avLst/>
            <a:gdLst/>
            <a:ahLst/>
            <a:cxnLst/>
            <a:rect r="r" b="b" t="t" l="l"/>
            <a:pathLst>
              <a:path h="218640" w="667206">
                <a:moveTo>
                  <a:pt x="0" y="0"/>
                </a:moveTo>
                <a:lnTo>
                  <a:pt x="667206" y="0"/>
                </a:lnTo>
                <a:lnTo>
                  <a:pt x="667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059732" y="3640352"/>
            <a:ext cx="448450" cy="218640"/>
          </a:xfrm>
          <a:custGeom>
            <a:avLst/>
            <a:gdLst/>
            <a:ahLst/>
            <a:cxnLst/>
            <a:rect r="r" b="b" t="t" l="l"/>
            <a:pathLst>
              <a:path h="218640" w="448450">
                <a:moveTo>
                  <a:pt x="0" y="0"/>
                </a:moveTo>
                <a:lnTo>
                  <a:pt x="448450" y="0"/>
                </a:lnTo>
                <a:lnTo>
                  <a:pt x="44845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236354" y="3640352"/>
            <a:ext cx="667206" cy="218640"/>
          </a:xfrm>
          <a:custGeom>
            <a:avLst/>
            <a:gdLst/>
            <a:ahLst/>
            <a:cxnLst/>
            <a:rect r="r" b="b" t="t" l="l"/>
            <a:pathLst>
              <a:path h="218640" w="667206">
                <a:moveTo>
                  <a:pt x="0" y="0"/>
                </a:moveTo>
                <a:lnTo>
                  <a:pt x="667206" y="0"/>
                </a:lnTo>
                <a:lnTo>
                  <a:pt x="667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306444" y="3588637"/>
            <a:ext cx="1515484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Observed speed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327" y="3588637"/>
            <a:ext cx="1386255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XGB prediction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944062" y="3603698"/>
            <a:ext cx="1218334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RF prediction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73006" y="4040462"/>
            <a:ext cx="246354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80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1101866" y="4066699"/>
            <a:ext cx="229694" cy="2798589"/>
          </a:xfrm>
          <a:custGeom>
            <a:avLst/>
            <a:gdLst/>
            <a:ahLst/>
            <a:cxnLst/>
            <a:rect r="r" b="b" t="t" l="l"/>
            <a:pathLst>
              <a:path h="2798589" w="229694">
                <a:moveTo>
                  <a:pt x="0" y="0"/>
                </a:moveTo>
                <a:lnTo>
                  <a:pt x="229694" y="0"/>
                </a:lnTo>
                <a:lnTo>
                  <a:pt x="229694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101866" y="4066699"/>
            <a:ext cx="6103292" cy="229572"/>
          </a:xfrm>
          <a:custGeom>
            <a:avLst/>
            <a:gdLst/>
            <a:ahLst/>
            <a:cxnLst/>
            <a:rect r="r" b="b" t="t" l="l"/>
            <a:pathLst>
              <a:path h="229572" w="6103292">
                <a:moveTo>
                  <a:pt x="0" y="0"/>
                </a:moveTo>
                <a:lnTo>
                  <a:pt x="6103292" y="0"/>
                </a:lnTo>
                <a:lnTo>
                  <a:pt x="6103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1101866" y="4711687"/>
            <a:ext cx="6103292" cy="218640"/>
          </a:xfrm>
          <a:custGeom>
            <a:avLst/>
            <a:gdLst/>
            <a:ahLst/>
            <a:cxnLst/>
            <a:rect r="r" b="b" t="t" l="l"/>
            <a:pathLst>
              <a:path h="218640" w="6103292">
                <a:moveTo>
                  <a:pt x="0" y="0"/>
                </a:moveTo>
                <a:lnTo>
                  <a:pt x="6103292" y="0"/>
                </a:lnTo>
                <a:lnTo>
                  <a:pt x="610329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101866" y="5356674"/>
            <a:ext cx="6103292" cy="218640"/>
          </a:xfrm>
          <a:custGeom>
            <a:avLst/>
            <a:gdLst/>
            <a:ahLst/>
            <a:cxnLst/>
            <a:rect r="r" b="b" t="t" l="l"/>
            <a:pathLst>
              <a:path h="218640" w="6103292">
                <a:moveTo>
                  <a:pt x="0" y="0"/>
                </a:moveTo>
                <a:lnTo>
                  <a:pt x="6103292" y="0"/>
                </a:lnTo>
                <a:lnTo>
                  <a:pt x="610329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101866" y="5783021"/>
            <a:ext cx="6103292" cy="218640"/>
          </a:xfrm>
          <a:custGeom>
            <a:avLst/>
            <a:gdLst/>
            <a:ahLst/>
            <a:cxnLst/>
            <a:rect r="r" b="b" t="t" l="l"/>
            <a:pathLst>
              <a:path h="218640" w="6103292">
                <a:moveTo>
                  <a:pt x="0" y="0"/>
                </a:moveTo>
                <a:lnTo>
                  <a:pt x="6103292" y="0"/>
                </a:lnTo>
                <a:lnTo>
                  <a:pt x="610329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101866" y="6428009"/>
            <a:ext cx="6103292" cy="218640"/>
          </a:xfrm>
          <a:custGeom>
            <a:avLst/>
            <a:gdLst/>
            <a:ahLst/>
            <a:cxnLst/>
            <a:rect r="r" b="b" t="t" l="l"/>
            <a:pathLst>
              <a:path h="218640" w="6103292">
                <a:moveTo>
                  <a:pt x="0" y="0"/>
                </a:moveTo>
                <a:lnTo>
                  <a:pt x="6103292" y="0"/>
                </a:lnTo>
                <a:lnTo>
                  <a:pt x="610329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622220" y="6428009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142574" y="6428009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5673866" y="6428009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6975464" y="6428009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84708" y="7925691"/>
            <a:ext cx="5239206" cy="863627"/>
          </a:xfrm>
          <a:custGeom>
            <a:avLst/>
            <a:gdLst/>
            <a:ahLst/>
            <a:cxnLst/>
            <a:rect r="r" b="b" t="t" l="l"/>
            <a:pathLst>
              <a:path h="863627" w="5239206">
                <a:moveTo>
                  <a:pt x="0" y="0"/>
                </a:moveTo>
                <a:lnTo>
                  <a:pt x="5239206" y="0"/>
                </a:lnTo>
                <a:lnTo>
                  <a:pt x="5239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2739238" y="8187591"/>
            <a:ext cx="1934771" cy="34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088" b="true">
                <a:solidFill>
                  <a:srgbClr val="0719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Sensor 717488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093375" y="8187591"/>
            <a:ext cx="1573827" cy="34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088" b="true">
                <a:solidFill>
                  <a:srgbClr val="0719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June 5 2012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18017" y="6919759"/>
            <a:ext cx="2492034" cy="77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9"/>
              </a:lnSpc>
            </a:pPr>
            <a:r>
              <a:rPr lang="en-US" sz="4576" b="true">
                <a:solidFill>
                  <a:srgbClr val="48BD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206/207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448730" y="7058029"/>
            <a:ext cx="3384816" cy="69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 b="true">
                <a:solidFill>
                  <a:srgbClr val="192F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sensors where XGB beats persistence at 60 minutes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82722" y="8082165"/>
            <a:ext cx="6021599" cy="34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 b="true">
                <a:solidFill>
                  <a:srgbClr val="192F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Longer forecasts increase prediction difficulty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78197" y="8805086"/>
            <a:ext cx="6474046" cy="34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 b="true">
                <a:solidFill>
                  <a:srgbClr val="192F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Sudden congestion shifts add to forecasting error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0" y="9642013"/>
            <a:ext cx="18288000" cy="644987"/>
          </a:xfrm>
          <a:custGeom>
            <a:avLst/>
            <a:gdLst/>
            <a:ahLst/>
            <a:cxnLst/>
            <a:rect r="r" b="b" t="t" l="l"/>
            <a:pathLst>
              <a:path h="644987" w="18288000">
                <a:moveTo>
                  <a:pt x="0" y="0"/>
                </a:moveTo>
                <a:lnTo>
                  <a:pt x="18288000" y="0"/>
                </a:lnTo>
                <a:lnTo>
                  <a:pt x="1828800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0" y="9423373"/>
            <a:ext cx="2614134" cy="863627"/>
          </a:xfrm>
          <a:custGeom>
            <a:avLst/>
            <a:gdLst/>
            <a:ahLst/>
            <a:cxnLst/>
            <a:rect r="r" b="b" t="t" l="l"/>
            <a:pathLst>
              <a:path h="863627" w="2614134">
                <a:moveTo>
                  <a:pt x="0" y="0"/>
                </a:moveTo>
                <a:lnTo>
                  <a:pt x="2614134" y="0"/>
                </a:lnTo>
                <a:lnTo>
                  <a:pt x="261413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8154413" y="2705565"/>
            <a:ext cx="4304008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96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Prediction example (Illustrative only)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45064" y="2705565"/>
            <a:ext cx="3181852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96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Mean Absolute Error (mph)</a:t>
            </a:r>
          </a:p>
        </p:txBody>
      </p:sp>
      <p:sp>
        <p:nvSpPr>
          <p:cNvPr name="TextBox 56" id="56"/>
          <p:cNvSpPr txBox="true"/>
          <p:nvPr/>
        </p:nvSpPr>
        <p:spPr>
          <a:xfrm rot="5400000">
            <a:off x="10005292" y="5184312"/>
            <a:ext cx="1129132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(RdW)peaks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698149" y="7112874"/>
            <a:ext cx="1025825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time of day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284223" y="4467683"/>
            <a:ext cx="529585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6" b="true">
                <a:solidFill>
                  <a:srgbClr val="071942"/>
                </a:solidFill>
                <a:latin typeface="Inter Bold"/>
                <a:ea typeface="Inter Bold"/>
                <a:cs typeface="Inter Bold"/>
                <a:sym typeface="Inter Bold"/>
              </a:rPr>
              <a:t>mph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043496" y="4467683"/>
            <a:ext cx="529585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6" b="true">
                <a:solidFill>
                  <a:srgbClr val="071942"/>
                </a:solidFill>
                <a:latin typeface="Inter Bold"/>
                <a:ea typeface="Inter Bold"/>
                <a:cs typeface="Inter Bold"/>
                <a:sym typeface="Inter Bold"/>
              </a:rPr>
              <a:t>mph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284223" y="6169558"/>
            <a:ext cx="529585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6" b="true">
                <a:solidFill>
                  <a:srgbClr val="071942"/>
                </a:solidFill>
                <a:latin typeface="Inter Bold"/>
                <a:ea typeface="Inter Bold"/>
                <a:cs typeface="Inter Bold"/>
                <a:sym typeface="Inter Bold"/>
              </a:rPr>
              <a:t>mph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043496" y="6169558"/>
            <a:ext cx="529585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6" b="true">
                <a:solidFill>
                  <a:srgbClr val="071942"/>
                </a:solidFill>
                <a:latin typeface="Inter Bold"/>
                <a:ea typeface="Inter Bold"/>
                <a:cs typeface="Inter Bold"/>
                <a:sym typeface="Inter Bold"/>
              </a:rPr>
              <a:t>mph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53520" y="6721292"/>
            <a:ext cx="552749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06:00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927866" y="6721292"/>
            <a:ext cx="551605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24:00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978263" y="6721292"/>
            <a:ext cx="556465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00:00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004989" y="6721292"/>
            <a:ext cx="503764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12:00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477006" y="6721292"/>
            <a:ext cx="506527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18:00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772911" y="4657956"/>
            <a:ext cx="246545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60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770147" y="5275451"/>
            <a:ext cx="252072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40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774388" y="5862824"/>
            <a:ext cx="243591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20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913985" y="6465257"/>
            <a:ext cx="125131" cy="24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149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809780" cy="1934962"/>
          </a:xfrm>
          <a:custGeom>
            <a:avLst/>
            <a:gdLst/>
            <a:ahLst/>
            <a:cxnLst/>
            <a:rect r="r" b="b" t="t" l="l"/>
            <a:pathLst>
              <a:path h="1934962" w="14809780">
                <a:moveTo>
                  <a:pt x="0" y="0"/>
                </a:moveTo>
                <a:lnTo>
                  <a:pt x="14809780" y="0"/>
                </a:lnTo>
                <a:lnTo>
                  <a:pt x="1480978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4828" y="700592"/>
            <a:ext cx="12453165" cy="75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3"/>
              </a:lnSpc>
            </a:pPr>
            <a:r>
              <a:rPr lang="en-US" sz="5703" spc="55" b="true">
                <a:solidFill>
                  <a:srgbClr val="0B1F4B"/>
                </a:solidFill>
                <a:latin typeface="Inter Bold"/>
                <a:ea typeface="Inter Bold"/>
                <a:cs typeface="Inter Bold"/>
                <a:sym typeface="Inter Bold"/>
              </a:rPr>
              <a:t>Conclusions, Limitations &amp; Phase 2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80086" y="0"/>
            <a:ext cx="3707914" cy="1508614"/>
          </a:xfrm>
          <a:custGeom>
            <a:avLst/>
            <a:gdLst/>
            <a:ahLst/>
            <a:cxnLst/>
            <a:rect r="r" b="b" t="t" l="l"/>
            <a:pathLst>
              <a:path h="1508614" w="3707914">
                <a:moveTo>
                  <a:pt x="0" y="0"/>
                </a:moveTo>
                <a:lnTo>
                  <a:pt x="3707914" y="0"/>
                </a:lnTo>
                <a:lnTo>
                  <a:pt x="3707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1924030"/>
            <a:ext cx="5457962" cy="863627"/>
          </a:xfrm>
          <a:custGeom>
            <a:avLst/>
            <a:gdLst/>
            <a:ahLst/>
            <a:cxnLst/>
            <a:rect r="r" b="b" t="t" l="l"/>
            <a:pathLst>
              <a:path h="863627" w="5457962">
                <a:moveTo>
                  <a:pt x="0" y="0"/>
                </a:moveTo>
                <a:lnTo>
                  <a:pt x="5457962" y="0"/>
                </a:lnTo>
                <a:lnTo>
                  <a:pt x="5457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30485" y="2320551"/>
            <a:ext cx="3381111" cy="34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3"/>
              </a:lnSpc>
            </a:pPr>
            <a:r>
              <a:rPr lang="en-US" sz="2643" b="true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What we established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2776725"/>
            <a:ext cx="5457962" cy="4296271"/>
          </a:xfrm>
          <a:custGeom>
            <a:avLst/>
            <a:gdLst/>
            <a:ahLst/>
            <a:cxnLst/>
            <a:rect r="r" b="b" t="t" l="l"/>
            <a:pathLst>
              <a:path h="4296271" w="5457962">
                <a:moveTo>
                  <a:pt x="0" y="0"/>
                </a:moveTo>
                <a:lnTo>
                  <a:pt x="5457962" y="0"/>
                </a:lnTo>
                <a:lnTo>
                  <a:pt x="5457962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12664" y="3201112"/>
            <a:ext cx="4366617" cy="73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115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Validated speed-only 207-sensor pipeline with 38 causal features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2842" y="4066699"/>
            <a:ext cx="4364182" cy="229572"/>
          </a:xfrm>
          <a:custGeom>
            <a:avLst/>
            <a:gdLst/>
            <a:ahLst/>
            <a:cxnLst/>
            <a:rect r="r" b="b" t="t" l="l"/>
            <a:pathLst>
              <a:path h="229572" w="4364182">
                <a:moveTo>
                  <a:pt x="0" y="0"/>
                </a:moveTo>
                <a:lnTo>
                  <a:pt x="4364182" y="0"/>
                </a:lnTo>
                <a:lnTo>
                  <a:pt x="436418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12664" y="4569136"/>
            <a:ext cx="4366617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XGB 3.874 mph 60-min MAE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82842" y="5138034"/>
            <a:ext cx="4364182" cy="229572"/>
          </a:xfrm>
          <a:custGeom>
            <a:avLst/>
            <a:gdLst/>
            <a:ahLst/>
            <a:cxnLst/>
            <a:rect r="r" b="b" t="t" l="l"/>
            <a:pathLst>
              <a:path h="229572" w="4364182">
                <a:moveTo>
                  <a:pt x="0" y="0"/>
                </a:moveTo>
                <a:lnTo>
                  <a:pt x="4364182" y="0"/>
                </a:lnTo>
                <a:lnTo>
                  <a:pt x="436418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12664" y="5509881"/>
            <a:ext cx="3295055" cy="77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RF stronger RMSE</a:t>
            </a:r>
          </a:p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and peak MAE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311110" y="1924030"/>
            <a:ext cx="5447024" cy="863627"/>
          </a:xfrm>
          <a:custGeom>
            <a:avLst/>
            <a:gdLst/>
            <a:ahLst/>
            <a:cxnLst/>
            <a:rect r="r" b="b" t="t" l="l"/>
            <a:pathLst>
              <a:path h="863627" w="5447024">
                <a:moveTo>
                  <a:pt x="0" y="0"/>
                </a:moveTo>
                <a:lnTo>
                  <a:pt x="5447024" y="0"/>
                </a:lnTo>
                <a:lnTo>
                  <a:pt x="5447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115609" y="2310198"/>
            <a:ext cx="1841219" cy="36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2756" b="true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Limitations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311110" y="2776725"/>
            <a:ext cx="5447024" cy="4296271"/>
          </a:xfrm>
          <a:custGeom>
            <a:avLst/>
            <a:gdLst/>
            <a:ahLst/>
            <a:cxnLst/>
            <a:rect r="r" b="b" t="t" l="l"/>
            <a:pathLst>
              <a:path h="4296271" w="5447024">
                <a:moveTo>
                  <a:pt x="0" y="0"/>
                </a:moveTo>
                <a:lnTo>
                  <a:pt x="5447024" y="0"/>
                </a:lnTo>
                <a:lnTo>
                  <a:pt x="544702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93952" y="3640352"/>
            <a:ext cx="3281340" cy="218640"/>
          </a:xfrm>
          <a:custGeom>
            <a:avLst/>
            <a:gdLst/>
            <a:ahLst/>
            <a:cxnLst/>
            <a:rect r="r" b="b" t="t" l="l"/>
            <a:pathLst>
              <a:path h="218640" w="3281340">
                <a:moveTo>
                  <a:pt x="0" y="0"/>
                </a:moveTo>
                <a:lnTo>
                  <a:pt x="3281340" y="0"/>
                </a:lnTo>
                <a:lnTo>
                  <a:pt x="328134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93952" y="4285339"/>
            <a:ext cx="3281340" cy="218640"/>
          </a:xfrm>
          <a:custGeom>
            <a:avLst/>
            <a:gdLst/>
            <a:ahLst/>
            <a:cxnLst/>
            <a:rect r="r" b="b" t="t" l="l"/>
            <a:pathLst>
              <a:path h="218640" w="3281340">
                <a:moveTo>
                  <a:pt x="0" y="0"/>
                </a:moveTo>
                <a:lnTo>
                  <a:pt x="3281340" y="0"/>
                </a:lnTo>
                <a:lnTo>
                  <a:pt x="328134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93952" y="4919394"/>
            <a:ext cx="3281340" cy="229572"/>
          </a:xfrm>
          <a:custGeom>
            <a:avLst/>
            <a:gdLst/>
            <a:ahLst/>
            <a:cxnLst/>
            <a:rect r="r" b="b" t="t" l="l"/>
            <a:pathLst>
              <a:path h="229572" w="3281340">
                <a:moveTo>
                  <a:pt x="0" y="0"/>
                </a:moveTo>
                <a:lnTo>
                  <a:pt x="3281340" y="0"/>
                </a:lnTo>
                <a:lnTo>
                  <a:pt x="3281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74148" y="5292056"/>
            <a:ext cx="3295055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 neighbour inputs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393952" y="5783021"/>
            <a:ext cx="3281340" cy="218640"/>
          </a:xfrm>
          <a:custGeom>
            <a:avLst/>
            <a:gdLst/>
            <a:ahLst/>
            <a:cxnLst/>
            <a:rect r="r" b="b" t="t" l="l"/>
            <a:pathLst>
              <a:path h="218640" w="3281340">
                <a:moveTo>
                  <a:pt x="0" y="0"/>
                </a:moveTo>
                <a:lnTo>
                  <a:pt x="3281340" y="0"/>
                </a:lnTo>
                <a:lnTo>
                  <a:pt x="328134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474148" y="5999916"/>
            <a:ext cx="3295055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Unresolved timezone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965952" y="1924030"/>
            <a:ext cx="5457962" cy="863627"/>
          </a:xfrm>
          <a:custGeom>
            <a:avLst/>
            <a:gdLst/>
            <a:ahLst/>
            <a:cxnLst/>
            <a:rect r="r" b="b" t="t" l="l"/>
            <a:pathLst>
              <a:path h="863627" w="5457962">
                <a:moveTo>
                  <a:pt x="0" y="0"/>
                </a:moveTo>
                <a:lnTo>
                  <a:pt x="5457962" y="0"/>
                </a:lnTo>
                <a:lnTo>
                  <a:pt x="5457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807393" y="2320551"/>
            <a:ext cx="1752991" cy="34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3"/>
              </a:lnSpc>
            </a:pPr>
            <a:r>
              <a:rPr lang="en-US" sz="2643" b="true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Next steps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965952" y="2776725"/>
            <a:ext cx="5457962" cy="4296271"/>
          </a:xfrm>
          <a:custGeom>
            <a:avLst/>
            <a:gdLst/>
            <a:ahLst/>
            <a:cxnLst/>
            <a:rect r="r" b="b" t="t" l="l"/>
            <a:pathLst>
              <a:path h="4296271" w="5457962">
                <a:moveTo>
                  <a:pt x="0" y="0"/>
                </a:moveTo>
                <a:lnTo>
                  <a:pt x="5457962" y="0"/>
                </a:lnTo>
                <a:lnTo>
                  <a:pt x="5457962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939117" y="3130268"/>
            <a:ext cx="3295055" cy="77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Controlled graph-aware GAT experiments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840976" y="3848060"/>
            <a:ext cx="3489158" cy="229572"/>
          </a:xfrm>
          <a:custGeom>
            <a:avLst/>
            <a:gdLst/>
            <a:ahLst/>
            <a:cxnLst/>
            <a:rect r="r" b="b" t="t" l="l"/>
            <a:pathLst>
              <a:path h="229572" w="3489158">
                <a:moveTo>
                  <a:pt x="0" y="0"/>
                </a:moveTo>
                <a:lnTo>
                  <a:pt x="3489158" y="0"/>
                </a:lnTo>
                <a:lnTo>
                  <a:pt x="348915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939117" y="4252858"/>
            <a:ext cx="3295055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No-neighbour controls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840976" y="4711687"/>
            <a:ext cx="3489158" cy="218640"/>
          </a:xfrm>
          <a:custGeom>
            <a:avLst/>
            <a:gdLst/>
            <a:ahLst/>
            <a:cxnLst/>
            <a:rect r="r" b="b" t="t" l="l"/>
            <a:pathLst>
              <a:path h="218640" w="3489158">
                <a:moveTo>
                  <a:pt x="0" y="0"/>
                </a:moveTo>
                <a:lnTo>
                  <a:pt x="3489158" y="0"/>
                </a:lnTo>
                <a:lnTo>
                  <a:pt x="348915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939117" y="4922508"/>
            <a:ext cx="3295055" cy="77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LWR needs extra flow density assumptions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840976" y="5783021"/>
            <a:ext cx="3489158" cy="218640"/>
          </a:xfrm>
          <a:custGeom>
            <a:avLst/>
            <a:gdLst/>
            <a:ahLst/>
            <a:cxnLst/>
            <a:rect r="r" b="b" t="t" l="l"/>
            <a:pathLst>
              <a:path h="218640" w="3489158">
                <a:moveTo>
                  <a:pt x="0" y="0"/>
                </a:moveTo>
                <a:lnTo>
                  <a:pt x="3489158" y="0"/>
                </a:lnTo>
                <a:lnTo>
                  <a:pt x="348915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939117" y="5991828"/>
            <a:ext cx="3295055" cy="77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Any control experiment simulated only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45330" y="7062064"/>
            <a:ext cx="16778584" cy="1945894"/>
          </a:xfrm>
          <a:custGeom>
            <a:avLst/>
            <a:gdLst/>
            <a:ahLst/>
            <a:cxnLst/>
            <a:rect r="r" b="b" t="t" l="l"/>
            <a:pathLst>
              <a:path h="1945894" w="16778584">
                <a:moveTo>
                  <a:pt x="0" y="0"/>
                </a:moveTo>
                <a:lnTo>
                  <a:pt x="16778584" y="0"/>
                </a:lnTo>
                <a:lnTo>
                  <a:pt x="1677858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829294" y="7397511"/>
            <a:ext cx="3713529" cy="136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8"/>
              </a:lnSpc>
            </a:pPr>
            <a:r>
              <a:rPr lang="en-US" sz="10378" spc="-207" b="true">
                <a:solidFill>
                  <a:srgbClr val="FAFAFA"/>
                </a:solidFill>
                <a:latin typeface="Inter Bold"/>
                <a:ea typeface="Inter Bold"/>
                <a:cs typeface="Inter Bold"/>
                <a:sym typeface="Inter Bold"/>
              </a:rPr>
              <a:t>3.874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05134" y="7935651"/>
            <a:ext cx="1360055" cy="64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4995" spc="48" b="true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mph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925244" y="7280704"/>
            <a:ext cx="218756" cy="1300906"/>
          </a:xfrm>
          <a:custGeom>
            <a:avLst/>
            <a:gdLst/>
            <a:ahLst/>
            <a:cxnLst/>
            <a:rect r="r" b="b" t="t" l="l"/>
            <a:pathLst>
              <a:path h="1300906" w="218756">
                <a:moveTo>
                  <a:pt x="0" y="0"/>
                </a:moveTo>
                <a:lnTo>
                  <a:pt x="218756" y="0"/>
                </a:lnTo>
                <a:lnTo>
                  <a:pt x="21875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722194" y="7470595"/>
            <a:ext cx="2902492" cy="102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1"/>
              </a:lnSpc>
            </a:pPr>
            <a:r>
              <a:rPr lang="en-US" sz="3701" spc="36" b="true">
                <a:solidFill>
                  <a:srgbClr val="FAFAFA"/>
                </a:solidFill>
                <a:latin typeface="Inter Bold"/>
                <a:ea typeface="Inter Bold"/>
                <a:cs typeface="Inter Bold"/>
                <a:sym typeface="Inter Bold"/>
              </a:rPr>
              <a:t>60-min MAE with XGB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0" y="9423373"/>
            <a:ext cx="2614134" cy="863627"/>
          </a:xfrm>
          <a:custGeom>
            <a:avLst/>
            <a:gdLst/>
            <a:ahLst/>
            <a:cxnLst/>
            <a:rect r="r" b="b" t="t" l="l"/>
            <a:pathLst>
              <a:path h="863627" w="2614134">
                <a:moveTo>
                  <a:pt x="0" y="0"/>
                </a:moveTo>
                <a:lnTo>
                  <a:pt x="2614134" y="0"/>
                </a:lnTo>
                <a:lnTo>
                  <a:pt x="261413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739110" y="9642013"/>
            <a:ext cx="16548890" cy="644987"/>
          </a:xfrm>
          <a:custGeom>
            <a:avLst/>
            <a:gdLst/>
            <a:ahLst/>
            <a:cxnLst/>
            <a:rect r="r" b="b" t="t" l="l"/>
            <a:pathLst>
              <a:path h="644987" w="16548890">
                <a:moveTo>
                  <a:pt x="0" y="0"/>
                </a:moveTo>
                <a:lnTo>
                  <a:pt x="16548890" y="0"/>
                </a:lnTo>
                <a:lnTo>
                  <a:pt x="1654889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541284" y="9057379"/>
            <a:ext cx="4882578" cy="44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3436" spc="33" b="true">
                <a:solidFill>
                  <a:srgbClr val="0B1F4B"/>
                </a:solidFill>
                <a:latin typeface="Inter Bold"/>
                <a:ea typeface="Inter Bold"/>
                <a:cs typeface="Inter Bold"/>
                <a:sym typeface="Inter Bold"/>
              </a:rPr>
              <a:t>Thank you / Questions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6529866" y="9423373"/>
            <a:ext cx="5009512" cy="229572"/>
          </a:xfrm>
          <a:custGeom>
            <a:avLst/>
            <a:gdLst/>
            <a:ahLst/>
            <a:cxnLst/>
            <a:rect r="r" b="b" t="t" l="l"/>
            <a:pathLst>
              <a:path h="229572" w="5009512">
                <a:moveTo>
                  <a:pt x="0" y="0"/>
                </a:moveTo>
                <a:lnTo>
                  <a:pt x="5009512" y="0"/>
                </a:lnTo>
                <a:lnTo>
                  <a:pt x="500951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7474148" y="3831155"/>
            <a:ext cx="3295055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Limited tuning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474148" y="3138356"/>
            <a:ext cx="3295055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Exposed test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474148" y="4569136"/>
            <a:ext cx="3295055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F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Speed-only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DAHZPMQwcWE</dc:identifier>
  <dcterms:modified xsi:type="dcterms:W3CDTF">2011-08-01T06:04:30Z</dcterms:modified>
  <cp:revision>1</cp:revision>
  <dc:title>Traffic_Speed_Forecasting_T072</dc:title>
</cp:coreProperties>
</file>