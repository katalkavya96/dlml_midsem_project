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73b118e0346da" /><Relationship Type="http://schemas.openxmlformats.org/officeDocument/2006/relationships/extended-properties" Target="/docProps/app.xml" Id="R0684bd5d1d8a4ad2" /><Relationship Type="http://schemas.openxmlformats.org/officeDocument/2006/relationships/officeDocument" Target="/ppt/presentation.xml" Id="R9fa997c2f2a249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7a33e91844c13"/>
  </p:sldMasterIdLst>
  <p:notesMasterIdLst>
    <p:notesMasterId xmlns:r="http://schemas.openxmlformats.org/officeDocument/2006/relationships" r:id="R908b6e5d2fae489c"/>
  </p:notesMasterIdLst>
  <p:sldIdLst>
    <p:sldId xmlns:r="http://schemas.openxmlformats.org/officeDocument/2006/relationships" id="256" r:id="Rfb4b4547bc8748f1"/>
    <p:sldId xmlns:r="http://schemas.openxmlformats.org/officeDocument/2006/relationships" id="257" r:id="Rfc99e840c4f74940"/>
    <p:sldId xmlns:r="http://schemas.openxmlformats.org/officeDocument/2006/relationships" id="258" r:id="R27064fbeba334c2f"/>
    <p:sldId xmlns:r="http://schemas.openxmlformats.org/officeDocument/2006/relationships" id="259" r:id="R8a913826893e4793"/>
    <p:sldId xmlns:r="http://schemas.openxmlformats.org/officeDocument/2006/relationships" id="260" r:id="Re02d628e69ab4a27"/>
    <p:sldId xmlns:r="http://schemas.openxmlformats.org/officeDocument/2006/relationships" id="261" r:id="R1384423163204b39"/>
    <p:sldId xmlns:r="http://schemas.openxmlformats.org/officeDocument/2006/relationships" id="262" r:id="Rd628d3a2fed945d4"/>
    <p:sldId xmlns:r="http://schemas.openxmlformats.org/officeDocument/2006/relationships" id="263" r:id="R44695b1c08894b99"/>
    <p:sldId xmlns:r="http://schemas.openxmlformats.org/officeDocument/2006/relationships" id="264" r:id="R484bd7c7d0114de8"/>
    <p:sldId xmlns:r="http://schemas.openxmlformats.org/officeDocument/2006/relationships" id="265" r:id="R2748162c90d44f4c"/>
    <p:sldId xmlns:r="http://schemas.openxmlformats.org/officeDocument/2006/relationships" id="266" r:id="R3be16c1f59f748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116b1f6d3d4dd9" /><Relationship Type="http://schemas.openxmlformats.org/officeDocument/2006/relationships/slideMaster" Target="/ppt/slideMasters/slideMaster1.xml" Id="Ra767a33e91844c13" /><Relationship Type="http://schemas.openxmlformats.org/officeDocument/2006/relationships/notesMaster" Target="/ppt/notesMasters/notesMaster1.xml" Id="R908b6e5d2fae489c" /><Relationship Type="http://schemas.openxmlformats.org/officeDocument/2006/relationships/presProps" Target="/ppt/presProps.xml" Id="Rb62c151bb3ba4fed" /><Relationship Type="http://schemas.openxmlformats.org/officeDocument/2006/relationships/tableStyles" Target="/ppt/tableStyles.xml" Id="Rf0440e59d126486a" /><Relationship Type="http://schemas.openxmlformats.org/officeDocument/2006/relationships/slide" Target="/ppt/slides/slide1.xml" Id="Rfb4b4547bc8748f1" /><Relationship Type="http://schemas.openxmlformats.org/officeDocument/2006/relationships/slide" Target="/ppt/slides/slide2.xml" Id="Rfc99e840c4f74940" /><Relationship Type="http://schemas.openxmlformats.org/officeDocument/2006/relationships/slide" Target="/ppt/slides/slide3.xml" Id="R27064fbeba334c2f" /><Relationship Type="http://schemas.openxmlformats.org/officeDocument/2006/relationships/slide" Target="/ppt/slides/slide4.xml" Id="R8a913826893e4793" /><Relationship Type="http://schemas.openxmlformats.org/officeDocument/2006/relationships/slide" Target="/ppt/slides/slide5.xml" Id="Re02d628e69ab4a27" /><Relationship Type="http://schemas.openxmlformats.org/officeDocument/2006/relationships/slide" Target="/ppt/slides/slide6.xml" Id="R1384423163204b39" /><Relationship Type="http://schemas.openxmlformats.org/officeDocument/2006/relationships/slide" Target="/ppt/slides/slide7.xml" Id="Rd628d3a2fed945d4" /><Relationship Type="http://schemas.openxmlformats.org/officeDocument/2006/relationships/slide" Target="/ppt/slides/slide8.xml" Id="R44695b1c08894b99" /><Relationship Type="http://schemas.openxmlformats.org/officeDocument/2006/relationships/slide" Target="/ppt/slides/slide9.xml" Id="R484bd7c7d0114de8" /><Relationship Type="http://schemas.openxmlformats.org/officeDocument/2006/relationships/slide" Target="/ppt/slides/slide10.xml" Id="R2748162c90d44f4c" /><Relationship Type="http://schemas.openxmlformats.org/officeDocument/2006/relationships/slide" Target="/ppt/slides/slide11.xml" Id="R3be16c1f59f7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7a317bdcd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c3e4d5327644db" /><Relationship Type="http://schemas.openxmlformats.org/officeDocument/2006/relationships/notesMaster" Target="/ppt/notesMasters/notesMaster1.xml" Id="R1499406bf4104d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437279b634d14" /><Relationship Type="http://schemas.openxmlformats.org/officeDocument/2006/relationships/notesMaster" Target="/ppt/notesMasters/notesMaster1.xml" Id="Ra1841da546084c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f8ee41515411a" /><Relationship Type="http://schemas.openxmlformats.org/officeDocument/2006/relationships/notesMaster" Target="/ppt/notesMasters/notesMaster1.xml" Id="R7ff6766029cc40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2a8a724254557" /><Relationship Type="http://schemas.openxmlformats.org/officeDocument/2006/relationships/notesMaster" Target="/ppt/notesMasters/notesMaster1.xml" Id="R709a732b03d2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215999a4654c76" /><Relationship Type="http://schemas.openxmlformats.org/officeDocument/2006/relationships/notesMaster" Target="/ppt/notesMasters/notesMaster1.xml" Id="Rc7a3b50e379e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e09bdfee10405c" /><Relationship Type="http://schemas.openxmlformats.org/officeDocument/2006/relationships/notesMaster" Target="/ppt/notesMasters/notesMaster1.xml" Id="R8ac3723ae2bd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fa82edc75746b7" /><Relationship Type="http://schemas.openxmlformats.org/officeDocument/2006/relationships/notesMaster" Target="/ppt/notesMasters/notesMaster1.xml" Id="Re0d9a61696ab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481cc45f7249d8" /><Relationship Type="http://schemas.openxmlformats.org/officeDocument/2006/relationships/notesMaster" Target="/ppt/notesMasters/notesMaster1.xml" Id="R621c93561ce8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f7278df01049a4" /><Relationship Type="http://schemas.openxmlformats.org/officeDocument/2006/relationships/notesMaster" Target="/ppt/notesMasters/notesMaster1.xml" Id="R47eba8e629e2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df53ba8d9742fb" /><Relationship Type="http://schemas.openxmlformats.org/officeDocument/2006/relationships/notesMaster" Target="/ppt/notesMasters/notesMaster1.xml" Id="Rb56e9920985a40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b1c4d4b66b4b70" /><Relationship Type="http://schemas.openxmlformats.org/officeDocument/2006/relationships/notesMaster" Target="/ppt/notesMasters/notesMaster1.xml" Id="R9270b565709e4f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study. Team roster does not imply individual implementation. See docs/CONTRIBUTIONS.md for actual assistance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verified METR-LA files and run manifest. Benchmark provenance: https://github.com/liyaguang/DCRNN and https://arxiv.org/abs/1707.01926. Raw-data redistribution rights and timezone remain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 manifest partitions. Training 23963 anchors; tuning 1701; second validation 1702; test 6850. All earlier partitions purge 11 crossing anchors. Old test results were previously inspected.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src/trafficml/features/temporal.py. 38 features, training-median fallback and within-window forward fill only. No scalers or neighbouring-sensor speed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Breiman 2001 https://www.stat.berkeley.edu/~breiman/randomforest2001.pdf; Chen and Guestrin 2016 https://arxiv.org/abs/1603.02754. Implementation details and selected settings are in the run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tuning.json and configs/phase1.yaml. Two candidates per method, six evenly spaced sensor indices, select by valid-point MAE at headline horizons on val_tune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/Users/kavyakatal/Desktop/DLML_Midsem_Project/AML/results/runs/phase1-full-v1/tables/metrics_val_tune.csv. MAE uses common valid sensor-time targets. Test values are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/Users/kavyakatal/Desktop/DLML_Midsem_Project/AML/results/runs/phase1-full-v1/tables/metrics_test.csv. MAE uses common valid sensor-time targets. Test values are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metrics_test.csv. Target clock windows are provisional weekdays 07–10 and 16–19; timezone/DST unresolved. All bars use h=12.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experiment manifest, training records and docs/METHODS_AND_VIVA.md. Hyndman and Koehler 2006: https://otext.robjhyndman.com/publications/another-look-at-measures-of-forecast-accuracy/.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docs/METHODS_AND_VIVA.md, docs/CONTRIBUTIONS.md. Integrated implementation prepared by the owner with substantial AI assistance, building on the teammate prototype. No individual understanding is certified.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4f48aec5b46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411af45ac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80c3f969f40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4ad505d6b49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c4d79e3bc48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2022ffb5b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8286A1-B07B-49C0-9E4F-5F0ED3C80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6F6782-FF8A-4F26-A07E-130D551378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085EA6-0B91-4294-A96D-E64080B15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C79EAC-DA4E-45A4-8F42-4BC62D081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58C802-F248-4208-849A-E51A00DE2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6355F5-B333-4C77-83C1-7462B22B9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AF6731-5C58-4A0E-92F0-C06DDE243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25344A-3F0D-41DC-BAD0-F44E32A212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11C488-4D0E-4EA5-993E-A55922187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28CC0B-3CBD-4F97-A29F-28541E966C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6a5937fc04677" /><Relationship Type="http://schemas.openxmlformats.org/officeDocument/2006/relationships/slideLayout" Target="/ppt/slideLayouts/slideLayout1.xml" Id="R2c628a3541974488" /><Relationship Type="http://schemas.openxmlformats.org/officeDocument/2006/relationships/slideLayout" Target="/ppt/slideLayouts/slideLayout2.xml" Id="Rf3b3344a6d6e4948" /><Relationship Type="http://schemas.openxmlformats.org/officeDocument/2006/relationships/slideLayout" Target="/ppt/slideLayouts/slideLayout3.xml" Id="Rc2723167e3f14e3a" /><Relationship Type="http://schemas.openxmlformats.org/officeDocument/2006/relationships/slideLayout" Target="/ppt/slideLayouts/slideLayout4.xml" Id="R547d093f02df4ac5" /><Relationship Type="http://schemas.openxmlformats.org/officeDocument/2006/relationships/slideLayout" Target="/ppt/slideLayouts/slideLayout5.xml" Id="R37848ff9dace47cd" /><Relationship Type="http://schemas.openxmlformats.org/officeDocument/2006/relationships/slideLayout" Target="/ppt/slideLayouts/slideLayout6.xml" Id="R9dd2464534e24a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628a3541974488"/>
    <p:sldLayoutId xmlns:r="http://schemas.openxmlformats.org/officeDocument/2006/relationships" id="2147483650" r:id="Rf3b3344a6d6e4948"/>
    <p:sldLayoutId xmlns:r="http://schemas.openxmlformats.org/officeDocument/2006/relationships" id="2147483651" r:id="Rc2723167e3f14e3a"/>
    <p:sldLayoutId xmlns:r="http://schemas.openxmlformats.org/officeDocument/2006/relationships" id="2147483652" r:id="R547d093f02df4ac5"/>
    <p:sldLayoutId xmlns:r="http://schemas.openxmlformats.org/officeDocument/2006/relationships" id="2147483653" r:id="R37848ff9dace47cd"/>
    <p:sldLayoutId xmlns:r="http://schemas.openxmlformats.org/officeDocument/2006/relationships" id="2147483654" r:id="R9dd2464534e24a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d037001164941" /><Relationship Type="http://schemas.openxmlformats.org/officeDocument/2006/relationships/notesSlide" Target="/ppt/notesSlides/notesSlide1.xml" Id="R9740c10e113c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428bf6a604641" /><Relationship Type="http://schemas.openxmlformats.org/officeDocument/2006/relationships/notesSlide" Target="/ppt/notesSlides/notesSlide2.xml" Id="Re07cb2f39b0f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5e6130b6d4c49" /><Relationship Type="http://schemas.openxmlformats.org/officeDocument/2006/relationships/notesSlide" Target="/ppt/notesSlides/notesSlide3.xml" Id="Rb66a41765aee4c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91a2eb684427e" /><Relationship Type="http://schemas.openxmlformats.org/officeDocument/2006/relationships/notesSlide" Target="/ppt/notesSlides/notesSlide4.xml" Id="R573da476ca0c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223c1db584f14" /><Relationship Type="http://schemas.openxmlformats.org/officeDocument/2006/relationships/notesSlide" Target="/ppt/notesSlides/notesSlide5.xml" Id="Rdb584006e81a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16abd4692481c" /><Relationship Type="http://schemas.openxmlformats.org/officeDocument/2006/relationships/notesSlide" Target="/ppt/notesSlides/notesSlide6.xml" Id="Rb1a6dd8e8e444c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3e3226b60403a" /><Relationship Type="http://schemas.openxmlformats.org/officeDocument/2006/relationships/chart" Target="/ppt/slides/charts/chart1.xml" Id="Rcfd645e7defe4bf4" /><Relationship Type="http://schemas.openxmlformats.org/officeDocument/2006/relationships/notesSlide" Target="/ppt/notesSlides/notesSlide7.xml" Id="Rb6846d8f5eac4d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9074eb90645b1" /><Relationship Type="http://schemas.openxmlformats.org/officeDocument/2006/relationships/chart" Target="/ppt/slides/charts/chart2.xml" Id="R15c4d4ecc322487e" /><Relationship Type="http://schemas.openxmlformats.org/officeDocument/2006/relationships/notesSlide" Target="/ppt/notesSlides/notesSlide8.xml" Id="R86f50850de634b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0106ff2e64d18" /><Relationship Type="http://schemas.openxmlformats.org/officeDocument/2006/relationships/chart" Target="/ppt/slides/charts/chart3.xml" Id="R69add46137324cc2" /><Relationship Type="http://schemas.openxmlformats.org/officeDocument/2006/relationships/notesSlide" Target="/ppt/notesSlides/notesSlide9.xml" Id="Rc89c0c3009d542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ba7f8fdf24722" /><Relationship Type="http://schemas.openxmlformats.org/officeDocument/2006/relationships/notesSlide" Target="/ppt/notesSlides/notesSlide10.xml" Id="Re9a573776aea49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5c67f7f03449d" /><Relationship Type="http://schemas.openxmlformats.org/officeDocument/2006/relationships/notesSlide" Target="/ppt/notesSlides/notesSlide11.xml" Id="R3e5e960fab2e49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Persistence</c:v>
          </c:tx>
          <c:spPr>
            <a:solidFill xmlns:a="http://schemas.openxmlformats.org/drawingml/2006/main">
              <a:srgbClr val="1F77B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3.0990644771</c:v>
                </c:pt>
                <c:pt idx="1">
                  <c:v>3.6511134757</c:v>
                </c:pt>
                <c:pt idx="2">
                  <c:v>4.4707918216</c:v>
                </c:pt>
              </c:numCache>
            </c:numRef>
          </c:val>
        </c:ser>
        <c:ser>
          <c:idx val="1"/>
          <c:order val="1"/>
          <c:tx>
            <c:v>Historical average</c:v>
          </c:tx>
          <c:spPr>
            <a:solidFill xmlns:a="http://schemas.openxmlformats.org/drawingml/2006/main">
              <a:srgbClr val="FF7F0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4.6026693094</c:v>
                </c:pt>
                <c:pt idx="1">
                  <c:v>4.598952794</c:v>
                </c:pt>
                <c:pt idx="2">
                  <c:v>4.583556163</c:v>
                </c:pt>
              </c:numCache>
            </c:numRef>
          </c:val>
        </c:ser>
        <c:ser>
          <c:idx val="2"/>
          <c:order val="2"/>
          <c:tx>
            <c:v>Random Forest</c:v>
          </c:tx>
          <c:spPr>
            <a:solidFill xmlns:a="http://schemas.openxmlformats.org/drawingml/2006/main">
              <a:srgbClr val="2CA02C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2.7930502346</c:v>
                </c:pt>
                <c:pt idx="1">
                  <c:v>3.2862106417</c:v>
                </c:pt>
                <c:pt idx="2">
                  <c:v>3.8488538741</c:v>
                </c:pt>
              </c:numCache>
            </c:numRef>
          </c:val>
        </c:ser>
        <c:ser>
          <c:idx val="3"/>
          <c:order val="3"/>
          <c:tx>
            <c:v>XGBoost</c:v>
          </c:tx>
          <c:spPr>
            <a:solidFill xmlns:a="http://schemas.openxmlformats.org/drawingml/2006/main">
              <a:srgbClr val="D62728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2.6140887567</c:v>
                </c:pt>
                <c:pt idx="1">
                  <c:v>3.0754859624</c:v>
                </c:pt>
                <c:pt idx="2">
                  <c:v>3.6079976744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Forecast horizon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MAE (mph)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Persistence</c:v>
          </c:tx>
          <c:spPr>
            <a:solidFill xmlns:a="http://schemas.openxmlformats.org/drawingml/2006/main">
              <a:srgbClr val="1F77B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3.4819512415</c:v>
                </c:pt>
                <c:pt idx="1">
                  <c:v>4.1733311698</c:v>
                </c:pt>
                <c:pt idx="2">
                  <c:v>5.3214729476</c:v>
                </c:pt>
              </c:numCache>
            </c:numRef>
          </c:val>
        </c:ser>
        <c:ser>
          <c:idx val="1"/>
          <c:order val="1"/>
          <c:tx>
            <c:v>Historical average</c:v>
          </c:tx>
          <c:spPr>
            <a:solidFill xmlns:a="http://schemas.openxmlformats.org/drawingml/2006/main">
              <a:srgbClr val="FF7F0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4.1866710433</c:v>
                </c:pt>
                <c:pt idx="1">
                  <c:v>4.186699088</c:v>
                </c:pt>
                <c:pt idx="2">
                  <c:v>4.1868620387</c:v>
                </c:pt>
              </c:numCache>
            </c:numRef>
          </c:val>
        </c:ser>
        <c:ser>
          <c:idx val="2"/>
          <c:order val="2"/>
          <c:tx>
            <c:v>Random Forest</c:v>
          </c:tx>
          <c:spPr>
            <a:solidFill xmlns:a="http://schemas.openxmlformats.org/drawingml/2006/main">
              <a:srgbClr val="2CA02C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2.9716099819</c:v>
                </c:pt>
                <c:pt idx="1">
                  <c:v>3.4233177368</c:v>
                </c:pt>
                <c:pt idx="2">
                  <c:v>3.8963654951</c:v>
                </c:pt>
              </c:numCache>
            </c:numRef>
          </c:val>
        </c:ser>
        <c:ser>
          <c:idx val="3"/>
          <c:order val="3"/>
          <c:tx>
            <c:v>XGBoost</c:v>
          </c:tx>
          <c:spPr>
            <a:solidFill xmlns:a="http://schemas.openxmlformats.org/drawingml/2006/main">
              <a:srgbClr val="D62728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2.9204999704</c:v>
                </c:pt>
                <c:pt idx="1">
                  <c:v>3.3763896094</c:v>
                </c:pt>
                <c:pt idx="2">
                  <c:v>3.873723439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Forecast horizon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MAE (mph)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Persistence</c:v>
          </c:tx>
          <c:spPr>
            <a:solidFill xmlns:a="http://schemas.openxmlformats.org/drawingml/2006/main">
              <a:srgbClr val="1F77B4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Off-peak</c:v>
                </c:pt>
                <c:pt idx="1">
                  <c:v>Peak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4.7039718713</c:v>
                </c:pt>
                <c:pt idx="1">
                  <c:v>7.7757194805</c:v>
                </c:pt>
              </c:numCache>
            </c:numRef>
          </c:val>
        </c:ser>
        <c:ser>
          <c:idx val="1"/>
          <c:order val="1"/>
          <c:tx>
            <c:v>Historical average</c:v>
          </c:tx>
          <c:spPr>
            <a:solidFill xmlns:a="http://schemas.openxmlformats.org/drawingml/2006/main">
              <a:srgbClr val="FF7F0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Off-peak</c:v>
                </c:pt>
                <c:pt idx="1">
                  <c:v>Peak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3.5977472799</c:v>
                </c:pt>
                <c:pt idx="1">
                  <c:v>6.5282876812</c:v>
                </c:pt>
              </c:numCache>
            </c:numRef>
          </c:val>
        </c:ser>
        <c:ser>
          <c:idx val="2"/>
          <c:order val="2"/>
          <c:tx>
            <c:v>Random Forest</c:v>
          </c:tx>
          <c:spPr>
            <a:solidFill xmlns:a="http://schemas.openxmlformats.org/drawingml/2006/main">
              <a:srgbClr val="2CA02C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Off-peak</c:v>
                </c:pt>
                <c:pt idx="1">
                  <c:v>Peak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3.3787244354</c:v>
                </c:pt>
                <c:pt idx="1">
                  <c:v>5.9537202511</c:v>
                </c:pt>
              </c:numCache>
            </c:numRef>
          </c:val>
        </c:ser>
        <c:ser>
          <c:idx val="3"/>
          <c:order val="3"/>
          <c:tx>
            <c:v>XGBoost</c:v>
          </c:tx>
          <c:spPr>
            <a:solidFill xmlns:a="http://schemas.openxmlformats.org/drawingml/2006/main">
              <a:srgbClr val="D62728"/>
            </a:solidFill>
          </c:spPr>
          <c:invertIfNegative val="0"/>
          <c:cat>
            <c:strRef>
              <c:f>'Chart Data'!$G$2:$G$3</c:f>
              <c:strCache>
                <c:ptCount val="2"/>
                <c:pt idx="0">
                  <c:v>Off-peak</c:v>
                </c:pt>
                <c:pt idx="1">
                  <c:v>Peak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3.2612928719</c:v>
                </c:pt>
                <c:pt idx="1">
                  <c:v>6.3078173275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Recorded-clock period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60-minute MAE (mph)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EE29B-2FD8-4B81-83B9-E8D51772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Traffic speed forecasting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EE448-912D-452D-AA39-EFBEEE5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Temporal tree models on METR-LA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AE908-0544-4BC6-87B5-D2AD964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Team T072 · Section C</a:t>
            </a:r>
          </a:p>
          <a:p xmlns:a="http://schemas.openxmlformats.org/drawingml/2006/main">
            <a: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Phase 1: forecasting, not signal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F7A11-1325-436D-9630-9DEAF320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Independent sensors · Common target masks · Recorded experiment evidence</a:t>
            </a:r>
          </a:p>
        </p:txBody>
      </p:sp>
    </p:spTree>
    <p:extLst>
      <p:ext uri="{BB962C8B-B14F-4D97-AF65-F5344CB8AC3E}">
        <p14:creationId xmlns:p14="http://schemas.microsoft.com/office/powerpoint/2010/main" val="709596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03269-AF91-44D6-82D7-70BA6B9C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Problem and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DF9AC-3120-4325-84C8-4112DD6B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Predict future speed at each sensor, 5–60 minutes ahead.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43924-B8F2-4A04-B4F1-C677065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207 sensors · 34,272 timestamps · five-minute sampling.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42E4-9E8E-4832-A343-F2A0063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Only speed is measured in the loaded matrix; no flow or occupancy is invented.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DF708-7433-458D-93F2-FF6BFC2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The verified road graph is not used by the current predictors.</a:t>
            </a:r>
          </a:p>
        </p:txBody>
      </p:sp>
    </p:spTree>
    <p:extLst>
      <p:ext uri="{BB962C8B-B14F-4D97-AF65-F5344CB8AC3E}">
        <p14:creationId xmlns:p14="http://schemas.microsoft.com/office/powerpoint/2010/main" val="729886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25861-6FA7-4561-8417-FA296492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Chronological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E80C3-8C03-4A10-AD98-CD6D9BB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Training → tuning validation → second validation → exploratory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6462-E0BF-418B-943A-E67BD6BE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Purge crossing target windows; fit all statistics on training observations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D7732-647C-4334-87D4-E01391CF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Use every second training anchor, but evaluate the full common target grid.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4BBB3-E8F9-49B4-AB4B-4855F57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The test interval was previously inspected; no fresh-holdout claim.</a:t>
            </a:r>
          </a:p>
        </p:txBody>
      </p:sp>
    </p:spTree>
    <p:extLst>
      <p:ext uri="{BB962C8B-B14F-4D97-AF65-F5344CB8AC3E}">
        <p14:creationId xmlns:p14="http://schemas.microsoft.com/office/powerpoint/2010/main" val="1532406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53CB-A687-41C2-ABEC-E0F245A1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Causal temporal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0F468-E3BB-4184-B91C-ADDAA26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12 speed lags + 12 original missingness flags.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85A77-1F8E-4C8A-954C-38A2450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Trailing means, standard deviation, extremes and speed differences.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88759-F558-4C1B-B678-3065690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Recorded-clock sine/cosine features and a weekend indicator.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F2428-A697-4E55-804F-B5EF88E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Forward fill from past values; training median fills leading gaps.</a:t>
            </a:r>
          </a:p>
        </p:txBody>
      </p:sp>
    </p:spTree>
    <p:extLst>
      <p:ext uri="{BB962C8B-B14F-4D97-AF65-F5344CB8AC3E}">
        <p14:creationId xmlns:p14="http://schemas.microsoft.com/office/powerpoint/2010/main" val="1712082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70887-095C-4083-A425-C78CBD85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Four methods, one evaluation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79533-E018-4F1C-8673-26BE555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Persistence: repeat the last valid speed; historical-average fallback.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9DB46-9425-4E69-BB67-C7833D0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Historical average: training sensor/time-of-week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23635-60AF-48E0-B760-6274483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Random Forest: independent sensor model, 12 outputs jointly.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82B22-BE09-4E77-A49A-F14D2BD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XGBoost: separate sensor/horizon regressors, no recursive prediction.</a:t>
            </a:r>
          </a:p>
        </p:txBody>
      </p:sp>
    </p:spTree>
    <p:extLst>
      <p:ext uri="{BB962C8B-B14F-4D97-AF65-F5344CB8AC3E}">
        <p14:creationId xmlns:p14="http://schemas.microsoft.com/office/powerpoint/2010/main" val="72833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D884-4D4F-4510-BF65-E553C92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A small, recorded validation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D4406-41DE-45D8-AE60-E9DAF5B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Two configurations per learned method; six fixed pilot sensors.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D2012-18BE-426C-A8F6-CB254780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Select using tuning-validation MAE at 15, 30 and 60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9AF99-2BEF-4E1C-8896-1238856E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Freeze settings before full-sensor comparisons.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3F1E0-BDF2-4974-A50B-5BBAB36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Label exclusions, fallbacks, seeds and runtime are recorded.</a:t>
            </a:r>
          </a:p>
        </p:txBody>
      </p:sp>
    </p:spTree>
    <p:extLst>
      <p:ext uri="{BB962C8B-B14F-4D97-AF65-F5344CB8AC3E}">
        <p14:creationId xmlns:p14="http://schemas.microsoft.com/office/powerpoint/2010/main" val="1831125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382EF-1229-4B13-ABCF-DC9F61FA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Validation: error by forecast horizon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EE01595-2A07-43B9-BBA4-B43BE6911084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d645e7defe4bf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900BF-BC78-4FAA-8701-F07E9CA6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Validation comparison; lower error is better.</a:t>
            </a:r>
          </a:p>
        </p:txBody>
      </p:sp>
    </p:spTree>
    <p:extLst>
      <p:ext uri="{BB962C8B-B14F-4D97-AF65-F5344CB8AC3E}">
        <p14:creationId xmlns:p14="http://schemas.microsoft.com/office/powerpoint/2010/main" val="1761984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14AA-FE1B-4997-A056-AF873A3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Exploratory test: error by horizon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7691BBD-EB39-432D-A311-D44CC34F1E86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c4d4ecc322487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457B3-590F-48DD-A6BA-3FD5B4E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Exploratory test comparison; lower error is better.</a:t>
            </a:r>
          </a:p>
        </p:txBody>
      </p:sp>
    </p:spTree>
    <p:extLst>
      <p:ext uri="{BB962C8B-B14F-4D97-AF65-F5344CB8AC3E}">
        <p14:creationId xmlns:p14="http://schemas.microsoft.com/office/powerpoint/2010/main" val="1169872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77861-2A31-47FC-A9A0-01E80AF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Peak versus off-peak performance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DA59F132-CAFA-49BF-9D5F-787A90023473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add46137324cc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8F0CA-2643-4EFA-AFDC-76532340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Period definitions are provisional; lower is better.</a:t>
            </a:r>
          </a:p>
        </p:txBody>
      </p:sp>
    </p:spTree>
    <p:extLst>
      <p:ext uri="{BB962C8B-B14F-4D97-AF65-F5344CB8AC3E}">
        <p14:creationId xmlns:p14="http://schemas.microsoft.com/office/powerpoint/2010/main" val="138097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7986E-A021-4791-935A-A9EC4C7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What the results can and cannot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92B44-42BD-402E-8932-03A1256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Compare MAE, RMSE and MAPE together; there is no classification accuracy.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4612D-A2D9-41BC-A5D0-E5C7EC3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Temporal models do not directly observe neighbouring-road congestion.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C3AC0-20A4-475A-8D71-18E578E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Prior test exposure and a small pilot limit generalization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BC8A7-F3BA-4339-800A-4D132DA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Raw XGBoost includes 24 negative forecasts; reported without clipping.</a:t>
            </a:r>
          </a:p>
        </p:txBody>
      </p:sp>
    </p:spTree>
    <p:extLst>
      <p:ext uri="{BB962C8B-B14F-4D97-AF65-F5344CB8AC3E}">
        <p14:creationId xmlns:p14="http://schemas.microsoft.com/office/powerpoint/2010/main" val="2125807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DCFAD-911C-4447-BE3F-4F33AAD4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954"/>
                </a:solidFill>
                <a:latin typeface="Helvetica Neue"/>
                <a:ea typeface="Helvetica Neue"/>
                <a:cs typeface="Helvetica Neue"/>
              </a:rPr>
              <a:t>Reproduction and viva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2DF55-210F-4095-8475-ACC23E9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One command runs training, evaluation, figures and result 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8E3D2-6A7D-4FAB-B235-684A3B6F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Saved models provide 15/30/60-minute forecasts for a chosen 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0158-0740-4797-B252-88A56ED6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Explain causality, masking, bagging, boosting and the observed errors.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9CE04-34CE-4B3F-A808-AF557CA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Disclose actual contributions and assistance; a commit name is not proof.</a:t>
            </a:r>
          </a:p>
        </p:txBody>
      </p:sp>
    </p:spTree>
    <p:extLst>
      <p:ext uri="{BB962C8B-B14F-4D97-AF65-F5344CB8AC3E}">
        <p14:creationId xmlns:p14="http://schemas.microsoft.com/office/powerpoint/2010/main" val="1398778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2026-10-25T19:24:41.3690000Z</dcterms:created>
  <dcterms:modified xsi:type="dcterms:W3CDTF">2026-10-25T19:24:41.3690000Z</dcterms:modified>
</coreProperties>
</file>